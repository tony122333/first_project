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8" r:id="rId3"/>
    <p:sldId id="257" r:id="rId4"/>
    <p:sldId id="259" r:id="rId5"/>
    <p:sldId id="260" r:id="rId6"/>
    <p:sldId id="261" r:id="rId7"/>
    <p:sldId id="262" r:id="rId8"/>
    <p:sldId id="263" r:id="rId9"/>
    <p:sldId id="264" r:id="rId10"/>
    <p:sldId id="275" r:id="rId11"/>
    <p:sldId id="276" r:id="rId12"/>
    <p:sldId id="277" r:id="rId13"/>
    <p:sldId id="278" r:id="rId14"/>
    <p:sldId id="279" r:id="rId15"/>
    <p:sldId id="280" r:id="rId16"/>
    <p:sldId id="281" r:id="rId17"/>
    <p:sldId id="282" r:id="rId18"/>
    <p:sldId id="283" r:id="rId19"/>
    <p:sldId id="284" r:id="rId20"/>
    <p:sldId id="285" r:id="rId21"/>
    <p:sldId id="290" r:id="rId22"/>
    <p:sldId id="291" r:id="rId23"/>
    <p:sldId id="292" r:id="rId24"/>
    <p:sldId id="293" r:id="rId25"/>
    <p:sldId id="294" r:id="rId26"/>
    <p:sldId id="295" r:id="rId27"/>
    <p:sldId id="296" r:id="rId28"/>
    <p:sldId id="297" r:id="rId29"/>
    <p:sldId id="298" r:id="rId30"/>
    <p:sldId id="299" r:id="rId31"/>
    <p:sldId id="300" r:id="rId32"/>
    <p:sldId id="301" r:id="rId33"/>
    <p:sldId id="302" r:id="rId34"/>
    <p:sldId id="303" r:id="rId35"/>
    <p:sldId id="304" r:id="rId36"/>
    <p:sldId id="305" r:id="rId37"/>
    <p:sldId id="286" r:id="rId38"/>
    <p:sldId id="287" r:id="rId39"/>
    <p:sldId id="288" r:id="rId40"/>
    <p:sldId id="289" r:id="rId41"/>
    <p:sldId id="265" r:id="rId42"/>
    <p:sldId id="266" r:id="rId43"/>
    <p:sldId id="274" r:id="rId44"/>
    <p:sldId id="268" r:id="rId45"/>
    <p:sldId id="267" r:id="rId46"/>
    <p:sldId id="269" r:id="rId47"/>
    <p:sldId id="270" r:id="rId48"/>
    <p:sldId id="271" r:id="rId49"/>
    <p:sldId id="272" r:id="rId50"/>
    <p:sldId id="273"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7" d="100"/>
          <a:sy n="87" d="100"/>
        </p:scale>
        <p:origin x="682"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0716E5A-4683-469B-B7F2-0BA125F72F35}" type="datetimeFigureOut">
              <a:rPr lang="en-IN" smtClean="0"/>
              <a:t>19-01-2022</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EE07CFCB-3E27-4A6F-930F-EB2456802F3D}"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89408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716E5A-4683-469B-B7F2-0BA125F72F35}" type="datetimeFigureOut">
              <a:rPr lang="en-IN" smtClean="0"/>
              <a:t>19-01-2022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CFCB-3E27-4A6F-930F-EB2456802F3D}"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7616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716E5A-4683-469B-B7F2-0BA125F72F35}" type="datetimeFigureOut">
              <a:rPr lang="en-IN" smtClean="0"/>
              <a:t>19-01-2022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CFCB-3E27-4A6F-930F-EB2456802F3D}"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16579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716E5A-4683-469B-B7F2-0BA125F72F35}" type="datetimeFigureOut">
              <a:rPr lang="en-IN" smtClean="0"/>
              <a:t>19-01-2022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CFCB-3E27-4A6F-930F-EB2456802F3D}"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37995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716E5A-4683-469B-B7F2-0BA125F72F35}" type="datetimeFigureOut">
              <a:rPr lang="en-IN" smtClean="0"/>
              <a:t>19-01-2022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E07CFCB-3E27-4A6F-930F-EB2456802F3D}"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723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716E5A-4683-469B-B7F2-0BA125F72F35}" type="datetimeFigureOut">
              <a:rPr lang="en-IN" smtClean="0"/>
              <a:t>19-01-2022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E07CFCB-3E27-4A6F-930F-EB2456802F3D}"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09841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716E5A-4683-469B-B7F2-0BA125F72F35}" type="datetimeFigureOut">
              <a:rPr lang="en-IN" smtClean="0"/>
              <a:t>19-01-2022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E07CFCB-3E27-4A6F-930F-EB2456802F3D}" type="slidenum">
              <a:rPr lang="en-IN" smtClean="0"/>
              <a:t>‹#›</a:t>
            </a:fld>
            <a:endParaRPr lang="en-IN"/>
          </a:p>
        </p:txBody>
      </p:sp>
    </p:spTree>
    <p:extLst>
      <p:ext uri="{BB962C8B-B14F-4D97-AF65-F5344CB8AC3E}">
        <p14:creationId xmlns:p14="http://schemas.microsoft.com/office/powerpoint/2010/main" val="2768035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716E5A-4683-469B-B7F2-0BA125F72F35}" type="datetimeFigureOut">
              <a:rPr lang="en-IN" smtClean="0"/>
              <a:t>19-01-2022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E07CFCB-3E27-4A6F-930F-EB2456802F3D}"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273186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A0716E5A-4683-469B-B7F2-0BA125F72F35}" type="datetimeFigureOut">
              <a:rPr lang="en-IN" smtClean="0"/>
              <a:t>19-01-2022</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EE07CFCB-3E27-4A6F-930F-EB2456802F3D}"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5963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716E5A-4683-469B-B7F2-0BA125F72F35}" type="datetimeFigureOut">
              <a:rPr lang="en-IN" smtClean="0"/>
              <a:t>19-01-2022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CFCB-3E27-4A6F-930F-EB2456802F3D}"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1985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716E5A-4683-469B-B7F2-0BA125F72F35}" type="datetimeFigureOut">
              <a:rPr lang="en-IN" smtClean="0"/>
              <a:t>19-01-2022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E07CFCB-3E27-4A6F-930F-EB2456802F3D}"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5693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0716E5A-4683-469B-B7F2-0BA125F72F35}" type="datetimeFigureOut">
              <a:rPr lang="en-IN" smtClean="0"/>
              <a:t>19-01-2022</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EE07CFCB-3E27-4A6F-930F-EB2456802F3D}"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8945385"/>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mailto:ashishgudena@gmail.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varunpathak.in/m1ss10n.zi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141A-583B-42A4-843A-94051C5C9C46}"/>
              </a:ext>
            </a:extLst>
          </p:cNvPr>
          <p:cNvSpPr>
            <a:spLocks noGrp="1"/>
          </p:cNvSpPr>
          <p:nvPr>
            <p:ph type="ctrTitle"/>
          </p:nvPr>
        </p:nvSpPr>
        <p:spPr/>
        <p:txBody>
          <a:bodyPr>
            <a:normAutofit fontScale="90000"/>
          </a:bodyPr>
          <a:lstStyle/>
          <a:p>
            <a:pPr algn="ctr"/>
            <a:r>
              <a:rPr lang="en-US" dirty="0"/>
              <a:t>PROJECT WORK</a:t>
            </a:r>
            <a:br>
              <a:rPr lang="en-US" dirty="0"/>
            </a:br>
            <a:r>
              <a:rPr lang="en-US" dirty="0"/>
              <a:t>ON</a:t>
            </a:r>
            <a:br>
              <a:rPr lang="en-US" dirty="0"/>
            </a:br>
            <a:r>
              <a:rPr lang="en-US" dirty="0"/>
              <a:t>Cyber Security &amp; Ethical Hacking</a:t>
            </a:r>
            <a:endParaRPr lang="en-IN" dirty="0"/>
          </a:p>
        </p:txBody>
      </p:sp>
      <p:sp>
        <p:nvSpPr>
          <p:cNvPr id="3" name="Subtitle 2">
            <a:extLst>
              <a:ext uri="{FF2B5EF4-FFF2-40B4-BE49-F238E27FC236}">
                <a16:creationId xmlns:a16="http://schemas.microsoft.com/office/drawing/2014/main" id="{6A6FD683-E3A8-4AEE-A8FF-C091C1ED70B7}"/>
              </a:ext>
            </a:extLst>
          </p:cNvPr>
          <p:cNvSpPr>
            <a:spLocks noGrp="1"/>
          </p:cNvSpPr>
          <p:nvPr>
            <p:ph type="subTitle" idx="1"/>
          </p:nvPr>
        </p:nvSpPr>
        <p:spPr/>
        <p:txBody>
          <a:bodyPr/>
          <a:lstStyle/>
          <a:p>
            <a:r>
              <a:rPr lang="en-US" dirty="0"/>
              <a:t>TRAINING Program offered by INMOVIDU Technologies Ltd.</a:t>
            </a:r>
          </a:p>
          <a:p>
            <a:r>
              <a:rPr lang="en-US" dirty="0"/>
              <a:t>(In collaboration with </a:t>
            </a:r>
            <a:r>
              <a:rPr lang="en-US" b="1" dirty="0"/>
              <a:t>IIT-Bombay</a:t>
            </a:r>
            <a:r>
              <a:rPr lang="en-US" dirty="0"/>
              <a:t>)</a:t>
            </a:r>
            <a:endParaRPr lang="en-IN" dirty="0"/>
          </a:p>
        </p:txBody>
      </p:sp>
    </p:spTree>
    <p:extLst>
      <p:ext uri="{BB962C8B-B14F-4D97-AF65-F5344CB8AC3E}">
        <p14:creationId xmlns:p14="http://schemas.microsoft.com/office/powerpoint/2010/main" val="30874166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B814-00BC-44DC-A656-7E4A3D9B282C}"/>
              </a:ext>
            </a:extLst>
          </p:cNvPr>
          <p:cNvSpPr>
            <a:spLocks noGrp="1"/>
          </p:cNvSpPr>
          <p:nvPr>
            <p:ph type="title"/>
          </p:nvPr>
        </p:nvSpPr>
        <p:spPr/>
        <p:txBody>
          <a:bodyPr>
            <a:normAutofit/>
          </a:bodyPr>
          <a:lstStyle/>
          <a:p>
            <a:r>
              <a:rPr lang="en-US" sz="6000" dirty="0"/>
              <a:t>PROJECT DETAILS</a:t>
            </a:r>
            <a:endParaRPr lang="en-IN" sz="6000" dirty="0"/>
          </a:p>
        </p:txBody>
      </p:sp>
      <p:sp>
        <p:nvSpPr>
          <p:cNvPr id="3" name="Content Placeholder 2">
            <a:extLst>
              <a:ext uri="{FF2B5EF4-FFF2-40B4-BE49-F238E27FC236}">
                <a16:creationId xmlns:a16="http://schemas.microsoft.com/office/drawing/2014/main" id="{15F825DB-39E6-43A0-8418-4A961472C86D}"/>
              </a:ext>
            </a:extLst>
          </p:cNvPr>
          <p:cNvSpPr>
            <a:spLocks noGrp="1"/>
          </p:cNvSpPr>
          <p:nvPr>
            <p:ph idx="1"/>
          </p:nvPr>
        </p:nvSpPr>
        <p:spPr/>
        <p:txBody>
          <a:bodyPr/>
          <a:lstStyle/>
          <a:p>
            <a:pPr>
              <a:buFont typeface="Wingdings" panose="05000000000000000000" pitchFamily="2" charset="2"/>
              <a:buChar char="q"/>
            </a:pPr>
            <a:r>
              <a:rPr lang="en-US" dirty="0"/>
              <a:t>NAME : GUDENA ASHISH</a:t>
            </a:r>
          </a:p>
          <a:p>
            <a:pPr>
              <a:buFont typeface="Wingdings" panose="05000000000000000000" pitchFamily="2" charset="2"/>
              <a:buChar char="q"/>
            </a:pPr>
            <a:r>
              <a:rPr lang="en-US" dirty="0"/>
              <a:t>E-mail ID : </a:t>
            </a:r>
            <a:r>
              <a:rPr lang="en-US" dirty="0">
                <a:hlinkClick r:id="rId2"/>
              </a:rPr>
              <a:t>ashishgudena@gmail.com</a:t>
            </a:r>
            <a:endParaRPr lang="en-US" dirty="0"/>
          </a:p>
          <a:p>
            <a:pPr>
              <a:buFont typeface="Wingdings" panose="05000000000000000000" pitchFamily="2" charset="2"/>
              <a:buChar char="q"/>
            </a:pPr>
            <a:r>
              <a:rPr lang="en-US" dirty="0"/>
              <a:t>Mobile Number :  9390414807</a:t>
            </a:r>
          </a:p>
          <a:p>
            <a:pPr>
              <a:buFont typeface="Wingdings" panose="05000000000000000000" pitchFamily="2" charset="2"/>
              <a:buChar char="q"/>
            </a:pPr>
            <a:r>
              <a:rPr lang="en-IN" dirty="0"/>
              <a:t>Training Program(Domain) : Cyber Security &amp; Ethical Hacking</a:t>
            </a:r>
          </a:p>
          <a:p>
            <a:pPr>
              <a:buFont typeface="Wingdings" panose="05000000000000000000" pitchFamily="2" charset="2"/>
              <a:buChar char="q"/>
            </a:pPr>
            <a:r>
              <a:rPr lang="en-IN" dirty="0"/>
              <a:t>Instructor : Varun Pathak</a:t>
            </a:r>
          </a:p>
        </p:txBody>
      </p:sp>
    </p:spTree>
    <p:extLst>
      <p:ext uri="{BB962C8B-B14F-4D97-AF65-F5344CB8AC3E}">
        <p14:creationId xmlns:p14="http://schemas.microsoft.com/office/powerpoint/2010/main" val="623841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41A74-756E-40A9-93C8-BA6637D60378}"/>
              </a:ext>
            </a:extLst>
          </p:cNvPr>
          <p:cNvSpPr>
            <a:spLocks noGrp="1"/>
          </p:cNvSpPr>
          <p:nvPr>
            <p:ph type="title"/>
          </p:nvPr>
        </p:nvSpPr>
        <p:spPr/>
        <p:txBody>
          <a:bodyPr>
            <a:normAutofit/>
          </a:bodyPr>
          <a:lstStyle/>
          <a:p>
            <a:r>
              <a:rPr lang="en-US" sz="6000" dirty="0"/>
              <a:t>TASKS</a:t>
            </a:r>
            <a:endParaRPr lang="en-IN" sz="6000" dirty="0"/>
          </a:p>
        </p:txBody>
      </p:sp>
      <p:sp>
        <p:nvSpPr>
          <p:cNvPr id="3" name="Content Placeholder 2">
            <a:extLst>
              <a:ext uri="{FF2B5EF4-FFF2-40B4-BE49-F238E27FC236}">
                <a16:creationId xmlns:a16="http://schemas.microsoft.com/office/drawing/2014/main" id="{67A7B078-3172-4DC1-819F-C577FA1838A8}"/>
              </a:ext>
            </a:extLst>
          </p:cNvPr>
          <p:cNvSpPr>
            <a:spLocks noGrp="1"/>
          </p:cNvSpPr>
          <p:nvPr>
            <p:ph idx="1"/>
          </p:nvPr>
        </p:nvSpPr>
        <p:spPr/>
        <p:txBody>
          <a:bodyPr>
            <a:normAutofit fontScale="92500" lnSpcReduction="20000"/>
          </a:bodyPr>
          <a:lstStyle/>
          <a:p>
            <a:r>
              <a:rPr lang="en-US" dirty="0"/>
              <a:t>VULNERABILITY ASSESSMENTS</a:t>
            </a:r>
          </a:p>
          <a:p>
            <a:pPr>
              <a:buFont typeface="Courier New" panose="02070309020205020404" pitchFamily="49" charset="0"/>
              <a:buChar char="o"/>
            </a:pPr>
            <a:r>
              <a:rPr lang="en-US" dirty="0"/>
              <a:t>Perform a VA on testphp.vulnweb.com </a:t>
            </a:r>
          </a:p>
          <a:p>
            <a:pPr>
              <a:buFont typeface="Courier New" panose="02070309020205020404" pitchFamily="49" charset="0"/>
              <a:buChar char="o"/>
            </a:pPr>
            <a:r>
              <a:rPr lang="en-US" dirty="0"/>
              <a:t>Perform a VA on host machine/virtual machine</a:t>
            </a:r>
          </a:p>
          <a:p>
            <a:pPr>
              <a:buFont typeface="Courier New" panose="02070309020205020404" pitchFamily="49" charset="0"/>
              <a:buChar char="o"/>
            </a:pPr>
            <a:r>
              <a:rPr lang="en-US" dirty="0"/>
              <a:t>Prepare a Customized Report of both VA </a:t>
            </a:r>
          </a:p>
          <a:p>
            <a:r>
              <a:rPr lang="en-US" dirty="0"/>
              <a:t>PASSWORD CRACKING</a:t>
            </a:r>
          </a:p>
          <a:p>
            <a:pPr>
              <a:buFont typeface="Courier New" panose="02070309020205020404" pitchFamily="49" charset="0"/>
              <a:buChar char="o"/>
            </a:pPr>
            <a:r>
              <a:rPr lang="en-US" dirty="0"/>
              <a:t>Find password of username hidden in following directory </a:t>
            </a:r>
            <a:r>
              <a:rPr lang="en-US" dirty="0">
                <a:hlinkClick r:id="rId2"/>
              </a:rPr>
              <a:t>www.varunpathak.in/m1ss10n.zip</a:t>
            </a:r>
            <a:endParaRPr lang="en-US" dirty="0"/>
          </a:p>
          <a:p>
            <a:r>
              <a:rPr lang="en-US" dirty="0"/>
              <a:t>STEGANOGRAPHY</a:t>
            </a:r>
          </a:p>
          <a:p>
            <a:pPr>
              <a:buFont typeface="Courier New" panose="02070309020205020404" pitchFamily="49" charset="0"/>
              <a:buChar char="o"/>
            </a:pPr>
            <a:r>
              <a:rPr lang="en-US" dirty="0"/>
              <a:t>Find a way to hide a video behind an image and run it</a:t>
            </a:r>
          </a:p>
        </p:txBody>
      </p:sp>
    </p:spTree>
    <p:extLst>
      <p:ext uri="{BB962C8B-B14F-4D97-AF65-F5344CB8AC3E}">
        <p14:creationId xmlns:p14="http://schemas.microsoft.com/office/powerpoint/2010/main" val="52158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500FA-E9B1-4B8B-94C5-3ED2446FFFD7}"/>
              </a:ext>
            </a:extLst>
          </p:cNvPr>
          <p:cNvSpPr>
            <a:spLocks noGrp="1"/>
          </p:cNvSpPr>
          <p:nvPr>
            <p:ph type="ctrTitle"/>
          </p:nvPr>
        </p:nvSpPr>
        <p:spPr/>
        <p:txBody>
          <a:bodyPr/>
          <a:lstStyle/>
          <a:p>
            <a:r>
              <a:rPr lang="en-US" dirty="0"/>
              <a:t>            TASK-1</a:t>
            </a:r>
            <a:endParaRPr lang="en-IN" dirty="0"/>
          </a:p>
        </p:txBody>
      </p:sp>
      <p:sp>
        <p:nvSpPr>
          <p:cNvPr id="3" name="Subtitle 2">
            <a:extLst>
              <a:ext uri="{FF2B5EF4-FFF2-40B4-BE49-F238E27FC236}">
                <a16:creationId xmlns:a16="http://schemas.microsoft.com/office/drawing/2014/main" id="{10B51170-5696-4BD6-B103-0FE0786047F6}"/>
              </a:ext>
            </a:extLst>
          </p:cNvPr>
          <p:cNvSpPr>
            <a:spLocks noGrp="1"/>
          </p:cNvSpPr>
          <p:nvPr>
            <p:ph type="subTitle" idx="1"/>
          </p:nvPr>
        </p:nvSpPr>
        <p:spPr>
          <a:xfrm>
            <a:off x="2417780" y="3514272"/>
            <a:ext cx="8637072" cy="977621"/>
          </a:xfrm>
        </p:spPr>
        <p:txBody>
          <a:bodyPr>
            <a:noAutofit/>
          </a:bodyPr>
          <a:lstStyle/>
          <a:p>
            <a:pPr algn="ctr"/>
            <a:r>
              <a:rPr lang="en-US" sz="4800" dirty="0"/>
              <a:t>VULNERABILITY ASSESSMENTS</a:t>
            </a:r>
            <a:endParaRPr lang="en-IN" sz="4800" dirty="0"/>
          </a:p>
        </p:txBody>
      </p:sp>
    </p:spTree>
    <p:extLst>
      <p:ext uri="{BB962C8B-B14F-4D97-AF65-F5344CB8AC3E}">
        <p14:creationId xmlns:p14="http://schemas.microsoft.com/office/powerpoint/2010/main" val="673916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714A-3316-4873-B0F0-D2FF15D852EE}"/>
              </a:ext>
            </a:extLst>
          </p:cNvPr>
          <p:cNvSpPr>
            <a:spLocks noGrp="1"/>
          </p:cNvSpPr>
          <p:nvPr>
            <p:ph type="title"/>
          </p:nvPr>
        </p:nvSpPr>
        <p:spPr/>
        <p:txBody>
          <a:bodyPr>
            <a:normAutofit/>
          </a:bodyPr>
          <a:lstStyle/>
          <a:p>
            <a:pPr algn="ctr"/>
            <a:r>
              <a:rPr lang="en-US" dirty="0"/>
              <a:t>SECURITY TESTING</a:t>
            </a:r>
            <a:br>
              <a:rPr lang="en-US" dirty="0"/>
            </a:br>
            <a:r>
              <a:rPr lang="en-US" dirty="0"/>
              <a:t>(OVERVIEW)</a:t>
            </a:r>
            <a:endParaRPr lang="en-IN" dirty="0"/>
          </a:p>
        </p:txBody>
      </p:sp>
      <p:sp>
        <p:nvSpPr>
          <p:cNvPr id="3" name="Content Placeholder 2">
            <a:extLst>
              <a:ext uri="{FF2B5EF4-FFF2-40B4-BE49-F238E27FC236}">
                <a16:creationId xmlns:a16="http://schemas.microsoft.com/office/drawing/2014/main" id="{49D2E053-0531-4A40-A9ED-A77BFDAF5905}"/>
              </a:ext>
            </a:extLst>
          </p:cNvPr>
          <p:cNvSpPr>
            <a:spLocks noGrp="1"/>
          </p:cNvSpPr>
          <p:nvPr>
            <p:ph idx="1"/>
          </p:nvPr>
        </p:nvSpPr>
        <p:spPr/>
        <p:txBody>
          <a:bodyPr>
            <a:normAutofit/>
          </a:bodyPr>
          <a:lstStyle/>
          <a:p>
            <a:r>
              <a:rPr lang="en-US" dirty="0"/>
              <a:t>Motto :-</a:t>
            </a:r>
          </a:p>
          <a:p>
            <a:pPr marL="0" indent="0">
              <a:buNone/>
            </a:pPr>
            <a:r>
              <a:rPr lang="en-US" dirty="0"/>
              <a:t>              To identify security issues that can be exploited to escalated privileges.</a:t>
            </a:r>
          </a:p>
          <a:p>
            <a:r>
              <a:rPr lang="en-US" dirty="0"/>
              <a:t>Procedure :-</a:t>
            </a:r>
          </a:p>
          <a:p>
            <a:pPr marL="0" indent="0">
              <a:buNone/>
            </a:pPr>
            <a:r>
              <a:rPr lang="en-US" dirty="0"/>
              <a:t>                    Perform an external vulnerability assessment, using an automatic scanner.</a:t>
            </a:r>
          </a:p>
          <a:p>
            <a:r>
              <a:rPr lang="en-US" dirty="0"/>
              <a:t>Report :-</a:t>
            </a:r>
          </a:p>
          <a:p>
            <a:pPr marL="0" indent="0">
              <a:buNone/>
            </a:pPr>
            <a:r>
              <a:rPr lang="en-US" dirty="0"/>
              <a:t>               During assessment, we found that there are manifold threats</a:t>
            </a:r>
            <a:r>
              <a:rPr lang="en-IN" dirty="0"/>
              <a:t> and vulnerabilities in the given website(testphp.vulnweb.com) </a:t>
            </a:r>
            <a:r>
              <a:rPr lang="en-IN"/>
              <a:t>&amp; host machine</a:t>
            </a:r>
            <a:r>
              <a:rPr lang="en-IN" dirty="0"/>
              <a:t>(Windows-10).</a:t>
            </a:r>
            <a:endParaRPr lang="en-US" dirty="0"/>
          </a:p>
        </p:txBody>
      </p:sp>
    </p:spTree>
    <p:extLst>
      <p:ext uri="{BB962C8B-B14F-4D97-AF65-F5344CB8AC3E}">
        <p14:creationId xmlns:p14="http://schemas.microsoft.com/office/powerpoint/2010/main" val="3426416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913C-00EA-4E4C-89F6-65878B8FCA6D}"/>
              </a:ext>
            </a:extLst>
          </p:cNvPr>
          <p:cNvSpPr>
            <a:spLocks noGrp="1"/>
          </p:cNvSpPr>
          <p:nvPr>
            <p:ph type="title"/>
          </p:nvPr>
        </p:nvSpPr>
        <p:spPr/>
        <p:txBody>
          <a:bodyPr>
            <a:normAutofit fontScale="90000"/>
          </a:bodyPr>
          <a:lstStyle/>
          <a:p>
            <a:pPr algn="ctr"/>
            <a:br>
              <a:rPr lang="en-US" dirty="0"/>
            </a:br>
            <a:r>
              <a:rPr lang="en-IN" sz="5300" dirty="0"/>
              <a:t> approach </a:t>
            </a:r>
          </a:p>
        </p:txBody>
      </p:sp>
      <p:sp>
        <p:nvSpPr>
          <p:cNvPr id="3" name="Content Placeholder 2">
            <a:extLst>
              <a:ext uri="{FF2B5EF4-FFF2-40B4-BE49-F238E27FC236}">
                <a16:creationId xmlns:a16="http://schemas.microsoft.com/office/drawing/2014/main" id="{19819399-313D-4874-875D-ADA767F05C17}"/>
              </a:ext>
            </a:extLst>
          </p:cNvPr>
          <p:cNvSpPr>
            <a:spLocks noGrp="1"/>
          </p:cNvSpPr>
          <p:nvPr>
            <p:ph idx="1"/>
          </p:nvPr>
        </p:nvSpPr>
        <p:spPr/>
        <p:txBody>
          <a:bodyPr/>
          <a:lstStyle/>
          <a:p>
            <a:pPr marL="514350" indent="-514350">
              <a:buFont typeface="+mj-lt"/>
              <a:buAutoNum type="romanLcPeriod"/>
            </a:pPr>
            <a:r>
              <a:rPr lang="en-US" dirty="0"/>
              <a:t>Performed expansive scan to assess systems/applications</a:t>
            </a:r>
          </a:p>
          <a:p>
            <a:pPr marL="514350" indent="-514350">
              <a:buFont typeface="+mj-lt"/>
              <a:buAutoNum type="romanLcPeriod"/>
            </a:pPr>
            <a:r>
              <a:rPr lang="en-IN" dirty="0"/>
              <a:t>Performed target scan and manual investigation</a:t>
            </a:r>
          </a:p>
          <a:p>
            <a:pPr marL="514350" indent="-514350">
              <a:buFont typeface="+mj-lt"/>
              <a:buAutoNum type="romanLcPeriod"/>
            </a:pPr>
            <a:r>
              <a:rPr lang="en-IN" dirty="0"/>
              <a:t>Ranked the vulnerabilities based on the threat level</a:t>
            </a:r>
          </a:p>
          <a:p>
            <a:pPr marL="514350" indent="-514350">
              <a:buFont typeface="+mj-lt"/>
              <a:buAutoNum type="romanLcPeriod"/>
            </a:pPr>
            <a:r>
              <a:rPr lang="en-IN" dirty="0"/>
              <a:t>The recommended remedies for the issues are identified</a:t>
            </a:r>
          </a:p>
          <a:p>
            <a:pPr marL="514350" indent="-514350">
              <a:buFont typeface="+mj-lt"/>
              <a:buAutoNum type="romanLcPeriod"/>
            </a:pPr>
            <a:r>
              <a:rPr lang="en-IN" dirty="0"/>
              <a:t>Communicated the whole scenario through this report</a:t>
            </a:r>
          </a:p>
        </p:txBody>
      </p:sp>
    </p:spTree>
    <p:extLst>
      <p:ext uri="{BB962C8B-B14F-4D97-AF65-F5344CB8AC3E}">
        <p14:creationId xmlns:p14="http://schemas.microsoft.com/office/powerpoint/2010/main" val="2795402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3E062-1BB6-454F-9625-9E0AE114238D}"/>
              </a:ext>
            </a:extLst>
          </p:cNvPr>
          <p:cNvSpPr>
            <a:spLocks noGrp="1"/>
          </p:cNvSpPr>
          <p:nvPr>
            <p:ph type="title"/>
          </p:nvPr>
        </p:nvSpPr>
        <p:spPr/>
        <p:txBody>
          <a:bodyPr/>
          <a:lstStyle/>
          <a:p>
            <a:pPr algn="ctr"/>
            <a:r>
              <a:rPr lang="en-US" dirty="0"/>
              <a:t>RISK</a:t>
            </a:r>
            <a:br>
              <a:rPr lang="en-US" dirty="0"/>
            </a:br>
            <a:r>
              <a:rPr lang="en-US" dirty="0"/>
              <a:t>(DEFINITION)</a:t>
            </a:r>
            <a:endParaRPr lang="en-IN" dirty="0"/>
          </a:p>
        </p:txBody>
      </p:sp>
      <p:pic>
        <p:nvPicPr>
          <p:cNvPr id="9" name="Content Placeholder 8">
            <a:extLst>
              <a:ext uri="{FF2B5EF4-FFF2-40B4-BE49-F238E27FC236}">
                <a16:creationId xmlns:a16="http://schemas.microsoft.com/office/drawing/2014/main" id="{0D727540-D6AF-4607-B754-16C567EDF3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9522" y="2016125"/>
            <a:ext cx="9247281" cy="3449638"/>
          </a:xfrm>
        </p:spPr>
      </p:pic>
    </p:spTree>
    <p:extLst>
      <p:ext uri="{BB962C8B-B14F-4D97-AF65-F5344CB8AC3E}">
        <p14:creationId xmlns:p14="http://schemas.microsoft.com/office/powerpoint/2010/main" val="157086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3CE79-06AB-4CE1-8053-4826CDDBE0DC}"/>
              </a:ext>
            </a:extLst>
          </p:cNvPr>
          <p:cNvSpPr>
            <a:spLocks noGrp="1"/>
          </p:cNvSpPr>
          <p:nvPr>
            <p:ph type="title"/>
          </p:nvPr>
        </p:nvSpPr>
        <p:spPr/>
        <p:txBody>
          <a:bodyPr>
            <a:normAutofit/>
          </a:bodyPr>
          <a:lstStyle/>
          <a:p>
            <a:pPr algn="ctr"/>
            <a:r>
              <a:rPr lang="en-US" dirty="0"/>
              <a:t>Vulnerability Assessment</a:t>
            </a:r>
            <a:br>
              <a:rPr lang="en-US" dirty="0"/>
            </a:br>
            <a:r>
              <a:rPr lang="en-US" dirty="0"/>
              <a:t>(website)</a:t>
            </a:r>
            <a:endParaRPr lang="en-IN" dirty="0"/>
          </a:p>
        </p:txBody>
      </p:sp>
      <p:sp>
        <p:nvSpPr>
          <p:cNvPr id="4" name="Content Placeholder 3">
            <a:extLst>
              <a:ext uri="{FF2B5EF4-FFF2-40B4-BE49-F238E27FC236}">
                <a16:creationId xmlns:a16="http://schemas.microsoft.com/office/drawing/2014/main" id="{45DAD12C-7E9C-4C8F-A6AE-3757477197DC}"/>
              </a:ext>
            </a:extLst>
          </p:cNvPr>
          <p:cNvSpPr>
            <a:spLocks noGrp="1"/>
          </p:cNvSpPr>
          <p:nvPr>
            <p:ph idx="1"/>
          </p:nvPr>
        </p:nvSpPr>
        <p:spPr/>
        <p:txBody>
          <a:bodyPr/>
          <a:lstStyle/>
          <a:p>
            <a:endParaRPr lang="en-IN"/>
          </a:p>
        </p:txBody>
      </p:sp>
      <p:pic>
        <p:nvPicPr>
          <p:cNvPr id="7" name="Picture 6">
            <a:extLst>
              <a:ext uri="{FF2B5EF4-FFF2-40B4-BE49-F238E27FC236}">
                <a16:creationId xmlns:a16="http://schemas.microsoft.com/office/drawing/2014/main" id="{91C6C622-08D3-4FAF-B14C-CDC72478D200}"/>
              </a:ext>
            </a:extLst>
          </p:cNvPr>
          <p:cNvPicPr>
            <a:picLocks noChangeAspect="1"/>
          </p:cNvPicPr>
          <p:nvPr/>
        </p:nvPicPr>
        <p:blipFill>
          <a:blip r:embed="rId2"/>
          <a:stretch>
            <a:fillRect/>
          </a:stretch>
        </p:blipFill>
        <p:spPr>
          <a:xfrm>
            <a:off x="1451580" y="2015732"/>
            <a:ext cx="9603274" cy="3450613"/>
          </a:xfrm>
          <a:prstGeom prst="rect">
            <a:avLst/>
          </a:prstGeom>
        </p:spPr>
      </p:pic>
    </p:spTree>
    <p:extLst>
      <p:ext uri="{BB962C8B-B14F-4D97-AF65-F5344CB8AC3E}">
        <p14:creationId xmlns:p14="http://schemas.microsoft.com/office/powerpoint/2010/main" val="4109678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52381-6FA7-4119-BE4B-95BA6AB970FC}"/>
              </a:ext>
            </a:extLst>
          </p:cNvPr>
          <p:cNvSpPr>
            <a:spLocks noGrp="1"/>
          </p:cNvSpPr>
          <p:nvPr>
            <p:ph type="title"/>
          </p:nvPr>
        </p:nvSpPr>
        <p:spPr/>
        <p:txBody>
          <a:bodyPr/>
          <a:lstStyle/>
          <a:p>
            <a:pPr algn="ctr"/>
            <a:r>
              <a:rPr lang="en-US" dirty="0"/>
              <a:t>Risk</a:t>
            </a:r>
            <a:br>
              <a:rPr lang="en-US" dirty="0"/>
            </a:br>
            <a:r>
              <a:rPr lang="en-US" dirty="0"/>
              <a:t>(in %)</a:t>
            </a:r>
            <a:endParaRPr lang="en-IN" dirty="0"/>
          </a:p>
        </p:txBody>
      </p:sp>
      <p:sp>
        <p:nvSpPr>
          <p:cNvPr id="3" name="Content Placeholder 2">
            <a:extLst>
              <a:ext uri="{FF2B5EF4-FFF2-40B4-BE49-F238E27FC236}">
                <a16:creationId xmlns:a16="http://schemas.microsoft.com/office/drawing/2014/main" id="{0C54C8C2-C639-475E-ACD9-C8B08BA2EF8B}"/>
              </a:ext>
            </a:extLst>
          </p:cNvPr>
          <p:cNvSpPr>
            <a:spLocks noGrp="1"/>
          </p:cNvSpPr>
          <p:nvPr>
            <p:ph sz="half" idx="1"/>
          </p:nvPr>
        </p:nvSpPr>
        <p:spPr/>
        <p:txBody>
          <a:bodyPr/>
          <a:lstStyle/>
          <a:p>
            <a:pPr marL="457200" indent="-457200">
              <a:buFont typeface="+mj-lt"/>
              <a:buAutoNum type="arabicParenR"/>
            </a:pPr>
            <a:r>
              <a:rPr lang="en-US" dirty="0"/>
              <a:t>Critical = 1.75</a:t>
            </a:r>
          </a:p>
          <a:p>
            <a:pPr marL="457200" indent="-457200">
              <a:buFont typeface="+mj-lt"/>
              <a:buAutoNum type="arabicParenR"/>
            </a:pPr>
            <a:r>
              <a:rPr lang="en-US" dirty="0"/>
              <a:t>High = 5.85</a:t>
            </a:r>
          </a:p>
          <a:p>
            <a:pPr marL="457200" indent="-457200">
              <a:buFont typeface="+mj-lt"/>
              <a:buAutoNum type="arabicParenR"/>
            </a:pPr>
            <a:r>
              <a:rPr lang="en-US" dirty="0"/>
              <a:t>Medium = 30.99</a:t>
            </a:r>
          </a:p>
          <a:p>
            <a:pPr marL="457200" indent="-457200">
              <a:buFont typeface="+mj-lt"/>
              <a:buAutoNum type="arabicParenR"/>
            </a:pPr>
            <a:r>
              <a:rPr lang="en-US" dirty="0"/>
              <a:t>Low = 2.34</a:t>
            </a:r>
          </a:p>
          <a:p>
            <a:pPr marL="457200" indent="-457200">
              <a:buFont typeface="+mj-lt"/>
              <a:buAutoNum type="arabicParenR"/>
            </a:pPr>
            <a:r>
              <a:rPr lang="en-US" dirty="0"/>
              <a:t>Info =59.06</a:t>
            </a:r>
            <a:endParaRPr lang="en-IN" dirty="0"/>
          </a:p>
        </p:txBody>
      </p:sp>
      <p:pic>
        <p:nvPicPr>
          <p:cNvPr id="6" name="Content Placeholder 5">
            <a:extLst>
              <a:ext uri="{FF2B5EF4-FFF2-40B4-BE49-F238E27FC236}">
                <a16:creationId xmlns:a16="http://schemas.microsoft.com/office/drawing/2014/main" id="{008082C4-2EEA-4378-A054-0996C20BF6DE}"/>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3500" y="2010878"/>
            <a:ext cx="4645025" cy="3448595"/>
          </a:xfrm>
        </p:spPr>
      </p:pic>
    </p:spTree>
    <p:extLst>
      <p:ext uri="{BB962C8B-B14F-4D97-AF65-F5344CB8AC3E}">
        <p14:creationId xmlns:p14="http://schemas.microsoft.com/office/powerpoint/2010/main" val="3696114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C7144-0AB2-4EA1-A095-9A9DB295CF1E}"/>
              </a:ext>
            </a:extLst>
          </p:cNvPr>
          <p:cNvSpPr>
            <a:spLocks noGrp="1"/>
          </p:cNvSpPr>
          <p:nvPr>
            <p:ph type="title"/>
          </p:nvPr>
        </p:nvSpPr>
        <p:spPr/>
        <p:txBody>
          <a:bodyPr>
            <a:normAutofit fontScale="90000"/>
          </a:bodyPr>
          <a:lstStyle/>
          <a:p>
            <a:pPr algn="ctr"/>
            <a:r>
              <a:rPr lang="en-US" b="1" dirty="0"/>
              <a:t>Unix Operating System</a:t>
            </a:r>
            <a:br>
              <a:rPr lang="en-US" b="1" dirty="0"/>
            </a:br>
            <a:r>
              <a:rPr lang="en-US" b="1" dirty="0"/>
              <a:t>(Unsupported Version Detection)</a:t>
            </a:r>
            <a:br>
              <a:rPr lang="en-US" b="1" dirty="0"/>
            </a:br>
            <a:endParaRPr lang="en-IN" dirty="0"/>
          </a:p>
        </p:txBody>
      </p:sp>
      <p:sp>
        <p:nvSpPr>
          <p:cNvPr id="3" name="Content Placeholder 2">
            <a:extLst>
              <a:ext uri="{FF2B5EF4-FFF2-40B4-BE49-F238E27FC236}">
                <a16:creationId xmlns:a16="http://schemas.microsoft.com/office/drawing/2014/main" id="{9585788B-28FF-439A-8F63-BFE64CD12F3D}"/>
              </a:ext>
            </a:extLst>
          </p:cNvPr>
          <p:cNvSpPr>
            <a:spLocks noGrp="1"/>
          </p:cNvSpPr>
          <p:nvPr>
            <p:ph idx="1"/>
          </p:nvPr>
        </p:nvSpPr>
        <p:spPr/>
        <p:txBody>
          <a:bodyPr/>
          <a:lstStyle/>
          <a:p>
            <a:r>
              <a:rPr lang="en-US" b="1" dirty="0"/>
              <a:t>Risk Factor :- </a:t>
            </a:r>
            <a:r>
              <a:rPr lang="en-US" dirty="0"/>
              <a:t>Critical</a:t>
            </a:r>
            <a:endParaRPr lang="en-US" b="1" dirty="0"/>
          </a:p>
          <a:p>
            <a:r>
              <a:rPr lang="en-US" b="1" dirty="0"/>
              <a:t>Description :- </a:t>
            </a:r>
            <a:r>
              <a:rPr lang="en-US" dirty="0"/>
              <a:t>According to its self-reported version number, the Unix operating system running on the remote host is no longer supported.</a:t>
            </a:r>
          </a:p>
          <a:p>
            <a:r>
              <a:rPr lang="en-US" b="1" dirty="0"/>
              <a:t>Impact :- </a:t>
            </a:r>
            <a:r>
              <a:rPr lang="en-US" dirty="0"/>
              <a:t>Lack of support implies that no new security patches for the product will be released by the vendor. As a result, it is likely to contain security vulnerabilities.</a:t>
            </a:r>
          </a:p>
          <a:p>
            <a:r>
              <a:rPr lang="en-US" b="1" dirty="0"/>
              <a:t>Solution :-</a:t>
            </a:r>
            <a:r>
              <a:rPr lang="en-US" dirty="0"/>
              <a:t>Upgrade to a version of the Unix operating system that is currently supported.</a:t>
            </a:r>
          </a:p>
          <a:p>
            <a:pPr marL="0" indent="0">
              <a:buNone/>
            </a:pPr>
            <a:endParaRPr lang="en-IN" dirty="0"/>
          </a:p>
        </p:txBody>
      </p:sp>
    </p:spTree>
    <p:extLst>
      <p:ext uri="{BB962C8B-B14F-4D97-AF65-F5344CB8AC3E}">
        <p14:creationId xmlns:p14="http://schemas.microsoft.com/office/powerpoint/2010/main" val="2776171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97B1-3EDC-4FF2-B17D-BB6C23EEA9D1}"/>
              </a:ext>
            </a:extLst>
          </p:cNvPr>
          <p:cNvSpPr>
            <a:spLocks noGrp="1"/>
          </p:cNvSpPr>
          <p:nvPr>
            <p:ph type="title"/>
          </p:nvPr>
        </p:nvSpPr>
        <p:spPr/>
        <p:txBody>
          <a:bodyPr>
            <a:normAutofit fontScale="90000"/>
          </a:bodyPr>
          <a:lstStyle/>
          <a:p>
            <a:pPr algn="ctr"/>
            <a:r>
              <a:rPr lang="en-IN" b="1" dirty="0"/>
              <a:t>PHP</a:t>
            </a:r>
            <a:br>
              <a:rPr lang="en-IN" b="1" dirty="0"/>
            </a:br>
            <a:r>
              <a:rPr lang="en-IN" b="1" dirty="0"/>
              <a:t>(Unsupported Version Detection)</a:t>
            </a:r>
            <a:br>
              <a:rPr lang="en-IN" b="1" dirty="0"/>
            </a:br>
            <a:endParaRPr lang="en-IN" dirty="0"/>
          </a:p>
        </p:txBody>
      </p:sp>
      <p:sp>
        <p:nvSpPr>
          <p:cNvPr id="3" name="Content Placeholder 2">
            <a:extLst>
              <a:ext uri="{FF2B5EF4-FFF2-40B4-BE49-F238E27FC236}">
                <a16:creationId xmlns:a16="http://schemas.microsoft.com/office/drawing/2014/main" id="{7EC4AA6C-E981-40BB-A951-83E6DB8B9A6E}"/>
              </a:ext>
            </a:extLst>
          </p:cNvPr>
          <p:cNvSpPr>
            <a:spLocks noGrp="1"/>
          </p:cNvSpPr>
          <p:nvPr>
            <p:ph idx="1"/>
          </p:nvPr>
        </p:nvSpPr>
        <p:spPr/>
        <p:txBody>
          <a:bodyPr/>
          <a:lstStyle/>
          <a:p>
            <a:r>
              <a:rPr lang="en-US" b="1" dirty="0"/>
              <a:t>Risk Factor :- </a:t>
            </a:r>
            <a:r>
              <a:rPr lang="en-US" dirty="0"/>
              <a:t>Critical</a:t>
            </a:r>
            <a:endParaRPr lang="en-US" b="1" dirty="0"/>
          </a:p>
          <a:p>
            <a:r>
              <a:rPr lang="en-US" b="1" dirty="0"/>
              <a:t>Description :- </a:t>
            </a:r>
            <a:r>
              <a:rPr lang="en-US" dirty="0"/>
              <a:t>According to its version, the installation of PHP on the remote host is no longer supported.</a:t>
            </a:r>
          </a:p>
          <a:p>
            <a:r>
              <a:rPr lang="en-US" b="1" dirty="0"/>
              <a:t>Impact :- </a:t>
            </a:r>
            <a:r>
              <a:rPr lang="en-US" dirty="0"/>
              <a:t>Lack of support implies that no new security patches for the product will be released by the vendor. As a result, it is likely to contain security vulnerabilities.</a:t>
            </a:r>
          </a:p>
          <a:p>
            <a:r>
              <a:rPr lang="en-US" b="1" dirty="0"/>
              <a:t>Solution :- </a:t>
            </a:r>
            <a:r>
              <a:rPr lang="en-US" dirty="0"/>
              <a:t>Upgrade to a version of PHP that is currently supported.</a:t>
            </a:r>
          </a:p>
        </p:txBody>
      </p:sp>
    </p:spTree>
    <p:extLst>
      <p:ext uri="{BB962C8B-B14F-4D97-AF65-F5344CB8AC3E}">
        <p14:creationId xmlns:p14="http://schemas.microsoft.com/office/powerpoint/2010/main" val="2552257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D31C4-4BDC-4B19-B739-63F7F1ED3C76}"/>
              </a:ext>
            </a:extLst>
          </p:cNvPr>
          <p:cNvSpPr>
            <a:spLocks noGrp="1"/>
          </p:cNvSpPr>
          <p:nvPr>
            <p:ph type="title"/>
          </p:nvPr>
        </p:nvSpPr>
        <p:spPr/>
        <p:txBody>
          <a:bodyPr>
            <a:normAutofit fontScale="90000"/>
          </a:bodyPr>
          <a:lstStyle/>
          <a:p>
            <a:pPr algn="ctr"/>
            <a:r>
              <a:rPr lang="en-IN" b="1" dirty="0"/>
              <a:t>PHP 5.3.x &lt; 5.3.15</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C2AF4254-7BE2-4DBB-9F2A-BB5027B108B4}"/>
              </a:ext>
            </a:extLst>
          </p:cNvPr>
          <p:cNvSpPr>
            <a:spLocks noGrp="1"/>
          </p:cNvSpPr>
          <p:nvPr>
            <p:ph idx="1"/>
          </p:nvPr>
        </p:nvSpPr>
        <p:spPr/>
        <p:txBody>
          <a:bodyPr>
            <a:normAutofit fontScale="85000" lnSpcReduction="10000"/>
          </a:bodyPr>
          <a:lstStyle/>
          <a:p>
            <a:r>
              <a:rPr lang="en-US" b="1" dirty="0"/>
              <a:t>Risk Factor :- </a:t>
            </a:r>
            <a:r>
              <a:rPr lang="en-US" dirty="0"/>
              <a:t>Critical</a:t>
            </a:r>
            <a:endParaRPr lang="en-US" b="1" dirty="0"/>
          </a:p>
          <a:p>
            <a:r>
              <a:rPr lang="en-US" b="1" dirty="0"/>
              <a:t>Description :- </a:t>
            </a:r>
            <a:r>
              <a:rPr lang="en-US" dirty="0"/>
              <a:t>According to its banner, the version of PHP installed on the remote host is 5.3.x earlier than 5.3.15.</a:t>
            </a:r>
          </a:p>
          <a:p>
            <a:r>
              <a:rPr lang="en-US" b="1" dirty="0"/>
              <a:t>Impact :- </a:t>
            </a:r>
            <a:r>
              <a:rPr lang="en-US" dirty="0"/>
              <a:t>Potentially affected by the following vulnerabilities;</a:t>
            </a:r>
          </a:p>
          <a:p>
            <a:pPr marL="0" indent="0">
              <a:buNone/>
            </a:pPr>
            <a:r>
              <a:rPr lang="en-US" dirty="0"/>
              <a:t>- An unspecified overflow vulnerability exists in the function '_</a:t>
            </a:r>
            <a:r>
              <a:rPr lang="en-US" dirty="0" err="1"/>
              <a:t>php_stream_scandir</a:t>
            </a:r>
            <a:r>
              <a:rPr lang="en-US" dirty="0"/>
              <a:t>' in the file  'main/streams/</a:t>
            </a:r>
            <a:r>
              <a:rPr lang="en-US" dirty="0" err="1"/>
              <a:t>streams.c</a:t>
            </a:r>
            <a:r>
              <a:rPr lang="en-US" dirty="0"/>
              <a:t>'. (CVE-2012-2688)</a:t>
            </a:r>
            <a:br>
              <a:rPr lang="en-US" dirty="0"/>
            </a:br>
            <a:br>
              <a:rPr lang="en-US" dirty="0"/>
            </a:br>
            <a:r>
              <a:rPr lang="en-US" dirty="0"/>
              <a:t>- An unspecified error exists that can allow the '</a:t>
            </a:r>
            <a:r>
              <a:rPr lang="en-US" dirty="0" err="1"/>
              <a:t>open_basedir</a:t>
            </a:r>
            <a:r>
              <a:rPr lang="en-US" dirty="0"/>
              <a:t>' constraint to be bypassed.</a:t>
            </a:r>
            <a:br>
              <a:rPr lang="en-US" dirty="0"/>
            </a:br>
            <a:r>
              <a:rPr lang="en-US" dirty="0"/>
              <a:t>(CVE-2012-3365)</a:t>
            </a:r>
          </a:p>
          <a:p>
            <a:r>
              <a:rPr lang="en-US" b="1" dirty="0"/>
              <a:t>Solution :- </a:t>
            </a:r>
            <a:r>
              <a:rPr lang="en-US" dirty="0"/>
              <a:t>Upgrade to PHP version 5.3.15 or later.</a:t>
            </a:r>
          </a:p>
          <a:p>
            <a:pPr marL="0" indent="0">
              <a:buNone/>
            </a:pPr>
            <a:endParaRPr lang="en-IN" b="1" dirty="0"/>
          </a:p>
        </p:txBody>
      </p:sp>
    </p:spTree>
    <p:extLst>
      <p:ext uri="{BB962C8B-B14F-4D97-AF65-F5344CB8AC3E}">
        <p14:creationId xmlns:p14="http://schemas.microsoft.com/office/powerpoint/2010/main" val="71208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70433-7F03-4D90-ADE0-893453DA57CC}"/>
              </a:ext>
            </a:extLst>
          </p:cNvPr>
          <p:cNvSpPr>
            <a:spLocks noGrp="1"/>
          </p:cNvSpPr>
          <p:nvPr>
            <p:ph type="title"/>
          </p:nvPr>
        </p:nvSpPr>
        <p:spPr/>
        <p:txBody>
          <a:bodyPr>
            <a:normAutofit fontScale="90000"/>
          </a:bodyPr>
          <a:lstStyle/>
          <a:p>
            <a:pPr algn="ctr"/>
            <a:r>
              <a:rPr lang="en-US" b="1" dirty="0"/>
              <a:t>PHP &lt; 5.3.12 / 5.4.2</a:t>
            </a:r>
            <a:br>
              <a:rPr lang="en-US" b="1" dirty="0"/>
            </a:br>
            <a:r>
              <a:rPr lang="en-US" b="1" dirty="0"/>
              <a:t>(CGI Query String Code Execution)</a:t>
            </a:r>
            <a:br>
              <a:rPr lang="en-US" b="1" dirty="0"/>
            </a:br>
            <a:endParaRPr lang="en-IN" dirty="0"/>
          </a:p>
        </p:txBody>
      </p:sp>
      <p:sp>
        <p:nvSpPr>
          <p:cNvPr id="3" name="Content Placeholder 2">
            <a:extLst>
              <a:ext uri="{FF2B5EF4-FFF2-40B4-BE49-F238E27FC236}">
                <a16:creationId xmlns:a16="http://schemas.microsoft.com/office/drawing/2014/main" id="{608D3900-08B9-42C3-9780-435A9580AAE8}"/>
              </a:ext>
            </a:extLst>
          </p:cNvPr>
          <p:cNvSpPr>
            <a:spLocks noGrp="1"/>
          </p:cNvSpPr>
          <p:nvPr>
            <p:ph idx="1"/>
          </p:nvPr>
        </p:nvSpPr>
        <p:spPr>
          <a:xfrm>
            <a:off x="1451579" y="2015731"/>
            <a:ext cx="9603275" cy="4037749"/>
          </a:xfrm>
        </p:spPr>
        <p:txBody>
          <a:bodyPr>
            <a:normAutofit fontScale="85000" lnSpcReduction="20000"/>
          </a:bodyPr>
          <a:lstStyle/>
          <a:p>
            <a:r>
              <a:rPr lang="en-US" b="1" dirty="0"/>
              <a:t>Risk Factor :-  </a:t>
            </a:r>
            <a:r>
              <a:rPr lang="en-US" dirty="0"/>
              <a:t>High</a:t>
            </a:r>
          </a:p>
          <a:p>
            <a:r>
              <a:rPr lang="en-US" b="1" dirty="0"/>
              <a:t>Description :-</a:t>
            </a:r>
            <a:r>
              <a:rPr lang="en-US" dirty="0"/>
              <a:t>According to its banner, the version of PHP installed on the remote host is earlier than 5.3.12 / 5.4.2, and as such is potentially affected by a remote code execution and information disclosure vulnerability.</a:t>
            </a:r>
          </a:p>
          <a:p>
            <a:r>
              <a:rPr lang="en-US" b="1" dirty="0"/>
              <a:t>Impact :-</a:t>
            </a:r>
            <a:r>
              <a:rPr lang="en-US" dirty="0"/>
              <a:t> An error in the file '</a:t>
            </a:r>
            <a:r>
              <a:rPr lang="en-US" dirty="0" err="1"/>
              <a:t>sapi</a:t>
            </a:r>
            <a:r>
              <a:rPr lang="en-US" dirty="0"/>
              <a:t>/</a:t>
            </a:r>
            <a:r>
              <a:rPr lang="en-US" dirty="0" err="1"/>
              <a:t>cgi</a:t>
            </a:r>
            <a:r>
              <a:rPr lang="en-US" dirty="0"/>
              <a:t>/</a:t>
            </a:r>
            <a:r>
              <a:rPr lang="en-US" dirty="0" err="1"/>
              <a:t>cgi_main.c</a:t>
            </a:r>
            <a:r>
              <a:rPr lang="en-US" dirty="0"/>
              <a:t>' can allow a remote attacker to obtain PHP source code from the web server or to potentially execute arbitrary code. In vulnerable configurations, PHP treats certain query string parameters as command line arguments including switches such as '-s', '-d', and '-c’.</a:t>
            </a:r>
            <a:br>
              <a:rPr lang="en-US" dirty="0"/>
            </a:br>
            <a:br>
              <a:rPr lang="en-US" dirty="0"/>
            </a:br>
            <a:r>
              <a:rPr lang="en-US" dirty="0"/>
              <a:t>(NOTE : This vulnerability is exploitable only when PHP is used in CGI-based configurations. Apache with '</a:t>
            </a:r>
            <a:r>
              <a:rPr lang="en-US" dirty="0" err="1"/>
              <a:t>mod_php</a:t>
            </a:r>
            <a:r>
              <a:rPr lang="en-US" dirty="0"/>
              <a:t>' is not an exploitable configuration.)</a:t>
            </a:r>
          </a:p>
          <a:p>
            <a:r>
              <a:rPr lang="en-US" b="1" dirty="0"/>
              <a:t>Solution :- </a:t>
            </a:r>
            <a:r>
              <a:rPr lang="en-US" dirty="0"/>
              <a:t>Upgrade to PHP version 5.3.12 / 5.4.2 or later. A '</a:t>
            </a:r>
            <a:r>
              <a:rPr lang="en-US" dirty="0" err="1"/>
              <a:t>mod_rewrite</a:t>
            </a:r>
            <a:r>
              <a:rPr lang="en-US" dirty="0"/>
              <a:t>' workaround is available as well.</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219133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29FC-8428-4428-A0EA-85F82142ECFA}"/>
              </a:ext>
            </a:extLst>
          </p:cNvPr>
          <p:cNvSpPr>
            <a:spLocks noGrp="1"/>
          </p:cNvSpPr>
          <p:nvPr>
            <p:ph type="title"/>
          </p:nvPr>
        </p:nvSpPr>
        <p:spPr/>
        <p:txBody>
          <a:bodyPr>
            <a:normAutofit fontScale="90000"/>
          </a:bodyPr>
          <a:lstStyle/>
          <a:p>
            <a:pPr algn="ctr"/>
            <a:r>
              <a:rPr lang="en-US" b="1" dirty="0"/>
              <a:t>PHP 5.3.x &lt; 5.3.13</a:t>
            </a:r>
            <a:br>
              <a:rPr lang="en-US" b="1" dirty="0"/>
            </a:br>
            <a:r>
              <a:rPr lang="en-US" b="1" dirty="0"/>
              <a:t>(CGI Query String Code Execution)</a:t>
            </a:r>
            <a:br>
              <a:rPr lang="en-US" b="1" dirty="0"/>
            </a:br>
            <a:endParaRPr lang="en-IN" dirty="0"/>
          </a:p>
        </p:txBody>
      </p:sp>
      <p:sp>
        <p:nvSpPr>
          <p:cNvPr id="3" name="Content Placeholder 2">
            <a:extLst>
              <a:ext uri="{FF2B5EF4-FFF2-40B4-BE49-F238E27FC236}">
                <a16:creationId xmlns:a16="http://schemas.microsoft.com/office/drawing/2014/main" id="{CBD8B57C-F242-4C4F-9D4D-EF71E414C6B7}"/>
              </a:ext>
            </a:extLst>
          </p:cNvPr>
          <p:cNvSpPr>
            <a:spLocks noGrp="1"/>
          </p:cNvSpPr>
          <p:nvPr>
            <p:ph idx="1"/>
          </p:nvPr>
        </p:nvSpPr>
        <p:spPr/>
        <p:txBody>
          <a:bodyPr>
            <a:normAutofit fontScale="85000" lnSpcReduction="10000"/>
          </a:bodyPr>
          <a:lstStyle/>
          <a:p>
            <a:r>
              <a:rPr lang="en-US" b="1" dirty="0"/>
              <a:t>Risk Factor :- </a:t>
            </a:r>
            <a:r>
              <a:rPr lang="en-US" dirty="0"/>
              <a:t>High</a:t>
            </a:r>
          </a:p>
          <a:p>
            <a:r>
              <a:rPr lang="en-US" b="1" dirty="0"/>
              <a:t>Description :- </a:t>
            </a:r>
            <a:r>
              <a:rPr lang="en-US" dirty="0"/>
              <a:t>According to its banner, the version of PHP installed on the remote host is 5.3.x earlier than 5.3.13 and, as such, is potentially affected by a remote code execution and information disclosure vulnerability.</a:t>
            </a:r>
          </a:p>
          <a:p>
            <a:r>
              <a:rPr lang="en-US" b="1" dirty="0"/>
              <a:t>Impact :- </a:t>
            </a:r>
            <a:r>
              <a:rPr lang="en-US" dirty="0"/>
              <a:t>The fix for CVE-2012-1823 does not completely correct the CGI query vulnerability. Disclosure of PHP source code and code execution via query parameters are still possible.</a:t>
            </a:r>
            <a:br>
              <a:rPr lang="en-US" dirty="0"/>
            </a:br>
            <a:br>
              <a:rPr lang="en-US" dirty="0"/>
            </a:br>
            <a:r>
              <a:rPr lang="en-US" dirty="0"/>
              <a:t>(NOTE : This vulnerability is exploitable only when PHP is used in CGI-based configurations. Apache with '</a:t>
            </a:r>
            <a:r>
              <a:rPr lang="en-US" dirty="0" err="1"/>
              <a:t>mod_php</a:t>
            </a:r>
            <a:r>
              <a:rPr lang="en-US" dirty="0"/>
              <a:t>' is not an exploitable configuration.)</a:t>
            </a:r>
          </a:p>
          <a:p>
            <a:r>
              <a:rPr lang="en-US" b="1" dirty="0"/>
              <a:t>Solution :-</a:t>
            </a:r>
            <a:r>
              <a:rPr lang="en-US" dirty="0"/>
              <a:t>Upgrade to PHP version 5.3.13 or later. A '</a:t>
            </a:r>
            <a:r>
              <a:rPr lang="en-US" dirty="0" err="1"/>
              <a:t>mod_rewrite</a:t>
            </a:r>
            <a:r>
              <a:rPr lang="en-US" dirty="0"/>
              <a:t>' workaround is available as well.</a:t>
            </a:r>
          </a:p>
          <a:p>
            <a:pPr marL="0" indent="0">
              <a:buNone/>
            </a:pPr>
            <a:endParaRPr lang="en-IN" dirty="0"/>
          </a:p>
        </p:txBody>
      </p:sp>
    </p:spTree>
    <p:extLst>
      <p:ext uri="{BB962C8B-B14F-4D97-AF65-F5344CB8AC3E}">
        <p14:creationId xmlns:p14="http://schemas.microsoft.com/office/powerpoint/2010/main" val="1549827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0FBF-7FAD-451E-A094-714FFDD17A7F}"/>
              </a:ext>
            </a:extLst>
          </p:cNvPr>
          <p:cNvSpPr>
            <a:spLocks noGrp="1"/>
          </p:cNvSpPr>
          <p:nvPr>
            <p:ph type="title"/>
          </p:nvPr>
        </p:nvSpPr>
        <p:spPr/>
        <p:txBody>
          <a:bodyPr>
            <a:normAutofit fontScale="90000"/>
          </a:bodyPr>
          <a:lstStyle/>
          <a:p>
            <a:pPr algn="ctr"/>
            <a:r>
              <a:rPr lang="en-IN" b="1" dirty="0"/>
              <a:t>PHP 5.3.x &lt; 5.3.14</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B0371E45-204A-4987-AAD6-E20C719024F2}"/>
              </a:ext>
            </a:extLst>
          </p:cNvPr>
          <p:cNvSpPr>
            <a:spLocks noGrp="1"/>
          </p:cNvSpPr>
          <p:nvPr>
            <p:ph idx="1"/>
          </p:nvPr>
        </p:nvSpPr>
        <p:spPr>
          <a:xfrm>
            <a:off x="1451579" y="2015732"/>
            <a:ext cx="9603275" cy="4037749"/>
          </a:xfrm>
        </p:spPr>
        <p:txBody>
          <a:bodyPr>
            <a:normAutofit fontScale="62500" lnSpcReduction="20000"/>
          </a:bodyPr>
          <a:lstStyle/>
          <a:p>
            <a:r>
              <a:rPr lang="en-US" b="1" dirty="0"/>
              <a:t>Risk factor :- </a:t>
            </a:r>
            <a:r>
              <a:rPr lang="en-US" dirty="0"/>
              <a:t>High</a:t>
            </a:r>
          </a:p>
          <a:p>
            <a:r>
              <a:rPr lang="en-US" b="1" dirty="0"/>
              <a:t>Description :- </a:t>
            </a:r>
            <a:r>
              <a:rPr lang="en-US" dirty="0"/>
              <a:t>According to its banner, the version of PHP installed on the remote host is 5.3.x earlier than 5.3.14.</a:t>
            </a:r>
          </a:p>
          <a:p>
            <a:r>
              <a:rPr lang="en-US" b="1" dirty="0"/>
              <a:t>Impact :- </a:t>
            </a:r>
            <a:r>
              <a:rPr lang="en-US" dirty="0"/>
              <a:t>Potentially affected by the following vulnerabilities;</a:t>
            </a:r>
            <a:br>
              <a:rPr lang="en-US" dirty="0"/>
            </a:br>
            <a:br>
              <a:rPr lang="en-US" dirty="0"/>
            </a:br>
            <a:r>
              <a:rPr lang="en-US" dirty="0"/>
              <a:t>- An integer overflow error exists in the function '</a:t>
            </a:r>
            <a:r>
              <a:rPr lang="en-US" dirty="0" err="1"/>
              <a:t>phar_parse_tarfile</a:t>
            </a:r>
            <a:r>
              <a:rPr lang="en-US" dirty="0"/>
              <a:t>' in the file '</a:t>
            </a:r>
            <a:r>
              <a:rPr lang="en-US" dirty="0" err="1"/>
              <a:t>ext</a:t>
            </a:r>
            <a:r>
              <a:rPr lang="en-US" dirty="0"/>
              <a:t>/</a:t>
            </a:r>
            <a:r>
              <a:rPr lang="en-US" dirty="0" err="1"/>
              <a:t>phar</a:t>
            </a:r>
            <a:r>
              <a:rPr lang="en-US" dirty="0"/>
              <a:t>/</a:t>
            </a:r>
            <a:r>
              <a:rPr lang="en-US" dirty="0" err="1"/>
              <a:t>tar.c</a:t>
            </a:r>
            <a:r>
              <a:rPr lang="en-US" dirty="0"/>
              <a:t>'. This error can lead to a heap-based buffer overflow when handling a maliciously crafted TAR file. Arbitrary code execution is possible due to this error. (CVE-2012-2386)</a:t>
            </a:r>
            <a:br>
              <a:rPr lang="en-US" dirty="0"/>
            </a:br>
            <a:br>
              <a:rPr lang="en-US" dirty="0"/>
            </a:br>
            <a:r>
              <a:rPr lang="en-US" dirty="0"/>
              <a:t>- A weakness exists in the 'crypt' function related to the DES implementation that can allow brute-force attacks. (CVE-2012-2143)</a:t>
            </a:r>
            <a:br>
              <a:rPr lang="en-US" dirty="0"/>
            </a:br>
            <a:br>
              <a:rPr lang="en-US" dirty="0"/>
            </a:br>
            <a:r>
              <a:rPr lang="en-US" dirty="0"/>
              <a:t>- Several design errors involving the incorrect parsing of PHP PDO prepared statements could lead to disclosure of sensitive information or denial of service.</a:t>
            </a:r>
            <a:br>
              <a:rPr lang="en-US" dirty="0"/>
            </a:br>
            <a:r>
              <a:rPr lang="en-US" dirty="0"/>
              <a:t>(CVE-2012-3450)</a:t>
            </a:r>
            <a:br>
              <a:rPr lang="en-US" dirty="0"/>
            </a:br>
            <a:br>
              <a:rPr lang="en-US" dirty="0"/>
            </a:br>
            <a:r>
              <a:rPr lang="en-US" dirty="0"/>
              <a:t>- A variable initialization error exists in the file '</a:t>
            </a:r>
            <a:r>
              <a:rPr lang="en-US" dirty="0" err="1"/>
              <a:t>ext</a:t>
            </a:r>
            <a:r>
              <a:rPr lang="en-US" dirty="0"/>
              <a:t>/</a:t>
            </a:r>
            <a:r>
              <a:rPr lang="en-US" dirty="0" err="1"/>
              <a:t>openssl</a:t>
            </a:r>
            <a:r>
              <a:rPr lang="en-US" dirty="0"/>
              <a:t>/</a:t>
            </a:r>
            <a:r>
              <a:rPr lang="en-US" dirty="0" err="1"/>
              <a:t>openssl.c</a:t>
            </a:r>
            <a:r>
              <a:rPr lang="en-US" dirty="0"/>
              <a:t>' that can allow process memory contents to be disclosed when input data is of length zero. (CVE-2012-6113)</a:t>
            </a:r>
          </a:p>
          <a:p>
            <a:r>
              <a:rPr lang="en-US" b="1" dirty="0"/>
              <a:t>Solution :- </a:t>
            </a:r>
            <a:r>
              <a:rPr lang="en-US" dirty="0"/>
              <a:t>Upgrade to PHP version 5.3.14 or later.</a:t>
            </a:r>
          </a:p>
          <a:p>
            <a:pPr marL="0" indent="0">
              <a:buNone/>
            </a:pPr>
            <a:endParaRPr lang="en-IN" b="1" dirty="0"/>
          </a:p>
        </p:txBody>
      </p:sp>
    </p:spTree>
    <p:extLst>
      <p:ext uri="{BB962C8B-B14F-4D97-AF65-F5344CB8AC3E}">
        <p14:creationId xmlns:p14="http://schemas.microsoft.com/office/powerpoint/2010/main" val="12834164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84556-2023-4179-A9E7-6DBDDFA15029}"/>
              </a:ext>
            </a:extLst>
          </p:cNvPr>
          <p:cNvSpPr>
            <a:spLocks noGrp="1"/>
          </p:cNvSpPr>
          <p:nvPr>
            <p:ph type="title"/>
          </p:nvPr>
        </p:nvSpPr>
        <p:spPr/>
        <p:txBody>
          <a:bodyPr>
            <a:normAutofit fontScale="90000"/>
          </a:bodyPr>
          <a:lstStyle/>
          <a:p>
            <a:pPr algn="ctr"/>
            <a:r>
              <a:rPr lang="en-IN" b="1" dirty="0"/>
              <a:t>PHP 5.3.x &lt; 5.3.22</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2E6C31C1-923A-4667-9722-0DE8769EE9CB}"/>
              </a:ext>
            </a:extLst>
          </p:cNvPr>
          <p:cNvSpPr>
            <a:spLocks noGrp="1"/>
          </p:cNvSpPr>
          <p:nvPr>
            <p:ph idx="1"/>
          </p:nvPr>
        </p:nvSpPr>
        <p:spPr>
          <a:xfrm>
            <a:off x="1451579" y="2015732"/>
            <a:ext cx="9603275" cy="4037749"/>
          </a:xfrm>
        </p:spPr>
        <p:txBody>
          <a:bodyPr>
            <a:normAutofit fontScale="77500" lnSpcReduction="20000"/>
          </a:bodyPr>
          <a:lstStyle/>
          <a:p>
            <a:r>
              <a:rPr lang="en-US" b="1" dirty="0"/>
              <a:t>Risk Factor :- </a:t>
            </a:r>
            <a:r>
              <a:rPr lang="en-US" dirty="0"/>
              <a:t>High</a:t>
            </a:r>
          </a:p>
          <a:p>
            <a:r>
              <a:rPr lang="en-US" b="1" dirty="0"/>
              <a:t>Description :-</a:t>
            </a:r>
            <a:r>
              <a:rPr lang="en-US" dirty="0"/>
              <a:t>According to its banner, the version of PHP 5.3.x installed on the remote host is prior to 5.3.22.</a:t>
            </a:r>
          </a:p>
          <a:p>
            <a:r>
              <a:rPr lang="en-US" b="1" dirty="0"/>
              <a:t>Impact :- </a:t>
            </a:r>
            <a:r>
              <a:rPr lang="en-US" dirty="0"/>
              <a:t>Potentially affected by the following vulnerabilities;</a:t>
            </a:r>
            <a:br>
              <a:rPr lang="en-US" dirty="0"/>
            </a:br>
            <a:r>
              <a:rPr lang="en-US" b="1" dirty="0"/>
              <a:t>-</a:t>
            </a:r>
            <a:r>
              <a:rPr lang="en-US" dirty="0"/>
              <a:t>An error exists in the file '</a:t>
            </a:r>
            <a:r>
              <a:rPr lang="en-US" dirty="0" err="1"/>
              <a:t>ext</a:t>
            </a:r>
            <a:r>
              <a:rPr lang="en-US" dirty="0"/>
              <a:t>/soap/</a:t>
            </a:r>
            <a:r>
              <a:rPr lang="en-US" dirty="0" err="1"/>
              <a:t>soap.c</a:t>
            </a:r>
            <a:r>
              <a:rPr lang="en-US" dirty="0"/>
              <a:t>' related to the '</a:t>
            </a:r>
            <a:r>
              <a:rPr lang="en-US" dirty="0" err="1"/>
              <a:t>soap.wsdl_cache_dir</a:t>
            </a:r>
            <a:r>
              <a:rPr lang="en-US" dirty="0"/>
              <a:t>' configuration directive and writing cache   files that could allow remote '</a:t>
            </a:r>
            <a:r>
              <a:rPr lang="en-US" dirty="0" err="1"/>
              <a:t>wsdl</a:t>
            </a:r>
            <a:r>
              <a:rPr lang="en-US" dirty="0"/>
              <a:t>' files to be written to arbitrary locations. (CVE-2013-1635)</a:t>
            </a:r>
            <a:br>
              <a:rPr lang="en-US" dirty="0"/>
            </a:br>
            <a:br>
              <a:rPr lang="en-US" dirty="0"/>
            </a:br>
            <a:r>
              <a:rPr lang="en-US" dirty="0"/>
              <a:t>- An error exists in the file '</a:t>
            </a:r>
            <a:r>
              <a:rPr lang="en-US" dirty="0" err="1"/>
              <a:t>ext</a:t>
            </a:r>
            <a:r>
              <a:rPr lang="en-US" dirty="0"/>
              <a:t>/soap/</a:t>
            </a:r>
            <a:r>
              <a:rPr lang="en-US" dirty="0" err="1"/>
              <a:t>php_xml.c</a:t>
            </a:r>
            <a:r>
              <a:rPr lang="en-US" dirty="0"/>
              <a:t>' related to parsing SOAP '</a:t>
            </a:r>
            <a:r>
              <a:rPr lang="en-US" dirty="0" err="1"/>
              <a:t>wsdl</a:t>
            </a:r>
            <a:r>
              <a:rPr lang="en-US" dirty="0"/>
              <a:t>' files and external entities that could cause PHP to parse remote XML documents defined by an attacker. This could allow access to arbitrary files. (CVE-2013-1643)</a:t>
            </a:r>
            <a:br>
              <a:rPr lang="en-US" dirty="0"/>
            </a:br>
            <a:br>
              <a:rPr lang="en-US" dirty="0"/>
            </a:br>
            <a:r>
              <a:rPr lang="en-US" dirty="0"/>
              <a:t>(NOTE : This plugin does not attempt to exploit the vulnerabilities but, instead relies only on PHP's self-reported version number.)</a:t>
            </a:r>
          </a:p>
          <a:p>
            <a:r>
              <a:rPr lang="en-US" b="1" dirty="0"/>
              <a:t>Solution :- </a:t>
            </a:r>
            <a:r>
              <a:rPr lang="en-US" dirty="0"/>
              <a:t>Upgrade to PHP version 5.3.22 or later.</a:t>
            </a:r>
          </a:p>
          <a:p>
            <a:pPr marL="0" indent="0">
              <a:buNone/>
            </a:pPr>
            <a:endParaRPr lang="en-IN" dirty="0"/>
          </a:p>
        </p:txBody>
      </p:sp>
    </p:spTree>
    <p:extLst>
      <p:ext uri="{BB962C8B-B14F-4D97-AF65-F5344CB8AC3E}">
        <p14:creationId xmlns:p14="http://schemas.microsoft.com/office/powerpoint/2010/main" val="996437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0568-4055-457F-B5BA-4A125853A54B}"/>
              </a:ext>
            </a:extLst>
          </p:cNvPr>
          <p:cNvSpPr>
            <a:spLocks noGrp="1"/>
          </p:cNvSpPr>
          <p:nvPr>
            <p:ph type="title"/>
          </p:nvPr>
        </p:nvSpPr>
        <p:spPr/>
        <p:txBody>
          <a:bodyPr>
            <a:normAutofit fontScale="90000"/>
          </a:bodyPr>
          <a:lstStyle/>
          <a:p>
            <a:pPr algn="ctr"/>
            <a:r>
              <a:rPr lang="en-IN" b="1" dirty="0"/>
              <a:t>PHP 5.3.x &lt; 5.3.23</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2887310D-FF86-4416-A8EE-90428EF77EEF}"/>
              </a:ext>
            </a:extLst>
          </p:cNvPr>
          <p:cNvSpPr>
            <a:spLocks noGrp="1"/>
          </p:cNvSpPr>
          <p:nvPr>
            <p:ph idx="1"/>
          </p:nvPr>
        </p:nvSpPr>
        <p:spPr>
          <a:xfrm>
            <a:off x="1451579" y="2015732"/>
            <a:ext cx="9603275" cy="4037749"/>
          </a:xfrm>
        </p:spPr>
        <p:txBody>
          <a:bodyPr>
            <a:normAutofit fontScale="70000" lnSpcReduction="20000"/>
          </a:bodyPr>
          <a:lstStyle/>
          <a:p>
            <a:r>
              <a:rPr lang="en-US" b="1" dirty="0"/>
              <a:t>Risk Factor :-</a:t>
            </a:r>
            <a:r>
              <a:rPr lang="en-US" dirty="0"/>
              <a:t> High</a:t>
            </a:r>
          </a:p>
          <a:p>
            <a:r>
              <a:rPr lang="en-US" b="1" dirty="0"/>
              <a:t>Description :- </a:t>
            </a:r>
            <a:r>
              <a:rPr lang="en-US" dirty="0"/>
              <a:t>According to its banner, the version of PHP 5.3.x installed on the remote host is prior to 5.3.23. </a:t>
            </a:r>
          </a:p>
          <a:p>
            <a:r>
              <a:rPr lang="en-US" b="1" dirty="0"/>
              <a:t>Impact :- </a:t>
            </a:r>
            <a:r>
              <a:rPr lang="en-US" dirty="0"/>
              <a:t>Potentially affected by the following vulnerabilities;</a:t>
            </a:r>
            <a:br>
              <a:rPr lang="en-US" dirty="0"/>
            </a:br>
            <a:r>
              <a:rPr lang="en-US" b="1" dirty="0"/>
              <a:t> </a:t>
            </a:r>
            <a:r>
              <a:rPr lang="en-US" dirty="0"/>
              <a:t>- An error exists in the file '</a:t>
            </a:r>
            <a:r>
              <a:rPr lang="en-US" dirty="0" err="1"/>
              <a:t>ext</a:t>
            </a:r>
            <a:r>
              <a:rPr lang="en-US" dirty="0"/>
              <a:t>/soap/</a:t>
            </a:r>
            <a:r>
              <a:rPr lang="en-US" dirty="0" err="1"/>
              <a:t>soap.c</a:t>
            </a:r>
            <a:r>
              <a:rPr lang="en-US" dirty="0"/>
              <a:t>' related to the '</a:t>
            </a:r>
            <a:r>
              <a:rPr lang="en-US" dirty="0" err="1"/>
              <a:t>soap.wsdl_cache_dir</a:t>
            </a:r>
            <a:r>
              <a:rPr lang="en-US" dirty="0"/>
              <a:t>' configuration directive and writing cache files that could allow remote '</a:t>
            </a:r>
            <a:r>
              <a:rPr lang="en-US" dirty="0" err="1"/>
              <a:t>wsdl</a:t>
            </a:r>
            <a:r>
              <a:rPr lang="en-US" dirty="0"/>
              <a:t>' files to be written to arbitrary locations. (CVE-2013-1635)</a:t>
            </a:r>
            <a:br>
              <a:rPr lang="en-US" dirty="0"/>
            </a:br>
            <a:br>
              <a:rPr lang="en-US" dirty="0"/>
            </a:br>
            <a:r>
              <a:rPr lang="en-US" dirty="0"/>
              <a:t>- An error exists in the file '</a:t>
            </a:r>
            <a:r>
              <a:rPr lang="en-US" dirty="0" err="1"/>
              <a:t>ext</a:t>
            </a:r>
            <a:r>
              <a:rPr lang="en-US" dirty="0"/>
              <a:t>/soap/</a:t>
            </a:r>
            <a:r>
              <a:rPr lang="en-US" dirty="0" err="1"/>
              <a:t>php_xml.c</a:t>
            </a:r>
            <a:r>
              <a:rPr lang="en-US" dirty="0"/>
              <a:t>' related to parsing SOAP '</a:t>
            </a:r>
            <a:r>
              <a:rPr lang="en-US" dirty="0" err="1"/>
              <a:t>wsdl</a:t>
            </a:r>
            <a:r>
              <a:rPr lang="en-US" dirty="0"/>
              <a:t>' files and external entities that could cause PHP to parse remote XML documents defined by an attacker. This could allow access to arbitrary files. (CVE-2013-1643)</a:t>
            </a:r>
            <a:br>
              <a:rPr lang="en-US" dirty="0"/>
            </a:br>
            <a:br>
              <a:rPr lang="en-US" dirty="0"/>
            </a:br>
            <a:r>
              <a:rPr lang="en-US" dirty="0"/>
              <a:t>- An information disclosure in the file '</a:t>
            </a:r>
            <a:r>
              <a:rPr lang="en-US" dirty="0" err="1"/>
              <a:t>ext</a:t>
            </a:r>
            <a:r>
              <a:rPr lang="en-US" dirty="0"/>
              <a:t>/soap/</a:t>
            </a:r>
            <a:r>
              <a:rPr lang="en-US" dirty="0" err="1"/>
              <a:t>php_xml.c</a:t>
            </a:r>
            <a:r>
              <a:rPr lang="en-US" dirty="0"/>
              <a:t>' related to parsing SOAP '</a:t>
            </a:r>
            <a:r>
              <a:rPr lang="en-US" dirty="0" err="1"/>
              <a:t>wsdl</a:t>
            </a:r>
            <a:r>
              <a:rPr lang="en-US" dirty="0"/>
              <a:t>' files and external entities that could cause PHP to parse remote XML documents defined by an attacker. This could allow access to arbitrary files. (CVE-2013-1824)</a:t>
            </a:r>
            <a:br>
              <a:rPr lang="en-US" dirty="0"/>
            </a:br>
            <a:br>
              <a:rPr lang="en-US" dirty="0"/>
            </a:br>
            <a:r>
              <a:rPr lang="en-US" dirty="0"/>
              <a:t>(NOTE : This plugin does not attempt to exploit the vulnerability, but instead relies only on PHP's self-reported version number.)</a:t>
            </a:r>
          </a:p>
          <a:p>
            <a:r>
              <a:rPr lang="en-US" b="1" dirty="0"/>
              <a:t>Solution :- </a:t>
            </a:r>
            <a:r>
              <a:rPr lang="en-US" dirty="0"/>
              <a:t>Upgrade to PHP version 5.3.23 or later.</a:t>
            </a:r>
          </a:p>
          <a:p>
            <a:pPr marL="0" indent="0">
              <a:buNone/>
            </a:pPr>
            <a:endParaRPr lang="en-IN" b="1" dirty="0"/>
          </a:p>
        </p:txBody>
      </p:sp>
    </p:spTree>
    <p:extLst>
      <p:ext uri="{BB962C8B-B14F-4D97-AF65-F5344CB8AC3E}">
        <p14:creationId xmlns:p14="http://schemas.microsoft.com/office/powerpoint/2010/main" val="1282019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8AF6-29FE-412E-BB83-777FFBF62D58}"/>
              </a:ext>
            </a:extLst>
          </p:cNvPr>
          <p:cNvSpPr>
            <a:spLocks noGrp="1"/>
          </p:cNvSpPr>
          <p:nvPr>
            <p:ph type="title"/>
          </p:nvPr>
        </p:nvSpPr>
        <p:spPr/>
        <p:txBody>
          <a:bodyPr>
            <a:normAutofit fontScale="90000"/>
          </a:bodyPr>
          <a:lstStyle/>
          <a:p>
            <a:pPr algn="ctr"/>
            <a:r>
              <a:rPr lang="en-IN" b="1" dirty="0"/>
              <a:t>PHP 5.3.x &lt; 5.3.28</a:t>
            </a:r>
            <a:br>
              <a:rPr lang="en-IN" b="1" dirty="0"/>
            </a:br>
            <a:r>
              <a:rPr lang="en-IN" b="1" dirty="0"/>
              <a:t>(Multiple OpenSSL Vulnerabilities)</a:t>
            </a:r>
            <a:br>
              <a:rPr lang="en-IN" b="1" dirty="0"/>
            </a:br>
            <a:endParaRPr lang="en-IN" dirty="0"/>
          </a:p>
        </p:txBody>
      </p:sp>
      <p:sp>
        <p:nvSpPr>
          <p:cNvPr id="3" name="Content Placeholder 2">
            <a:extLst>
              <a:ext uri="{FF2B5EF4-FFF2-40B4-BE49-F238E27FC236}">
                <a16:creationId xmlns:a16="http://schemas.microsoft.com/office/drawing/2014/main" id="{C204ECC6-4E4A-403C-BED9-8EC807F26E3C}"/>
              </a:ext>
            </a:extLst>
          </p:cNvPr>
          <p:cNvSpPr>
            <a:spLocks noGrp="1"/>
          </p:cNvSpPr>
          <p:nvPr>
            <p:ph idx="1"/>
          </p:nvPr>
        </p:nvSpPr>
        <p:spPr>
          <a:xfrm>
            <a:off x="1451579" y="2015732"/>
            <a:ext cx="9603275" cy="4037749"/>
          </a:xfrm>
        </p:spPr>
        <p:txBody>
          <a:bodyPr>
            <a:normAutofit fontScale="70000" lnSpcReduction="20000"/>
          </a:bodyPr>
          <a:lstStyle/>
          <a:p>
            <a:r>
              <a:rPr lang="en-US" b="1" dirty="0"/>
              <a:t>Risk Factor :- </a:t>
            </a:r>
            <a:r>
              <a:rPr lang="en-US" dirty="0"/>
              <a:t>High</a:t>
            </a:r>
          </a:p>
          <a:p>
            <a:r>
              <a:rPr lang="en-US" b="1" dirty="0"/>
              <a:t>Description :- </a:t>
            </a:r>
            <a:r>
              <a:rPr lang="en-US" dirty="0"/>
              <a:t>According to its banner, the version of PHP installed on the remote host is 5.3.x prior to 5.3.28.</a:t>
            </a:r>
          </a:p>
          <a:p>
            <a:r>
              <a:rPr lang="en-US" b="1" dirty="0"/>
              <a:t>Impact :- </a:t>
            </a:r>
            <a:r>
              <a:rPr lang="en-US" dirty="0"/>
              <a:t>Potentially affected by the following vulnerabilities;</a:t>
            </a:r>
            <a:br>
              <a:rPr lang="en-US" dirty="0"/>
            </a:br>
            <a:r>
              <a:rPr lang="en-US" dirty="0"/>
              <a:t>- A flaw exists in the PHP OpenSSL extension's hostname identity check when handling certificates that contain hostnames with NULL bytes. An attacker could potentially exploit this flaw to conduct man-in-the-middle attacks to spoof SSL servers. Note that to exploit this issue, an attacker would need to obtain a carefully-crafted certificate signed by an authority that the client trusts. (CVE-2013-4073, CVE-2013-4248)</a:t>
            </a:r>
            <a:br>
              <a:rPr lang="en-US" dirty="0"/>
            </a:br>
            <a:br>
              <a:rPr lang="en-US" dirty="0"/>
            </a:br>
            <a:r>
              <a:rPr lang="en-US" dirty="0"/>
              <a:t>- A memory corruption flaw exists in the way the openssl_x509_parse() function of the PHP OpenSSL extension parsed X.509 certificates. A remote attacker could use this flaw to provide a malicious, self-signed certificate or a certificate signed by a trusted authority to a PHP application using the aforementioned function. This could cause the application to crash or possibly allow the attacker to execute arbitrary code with the privileges of the user running the PHP interpreter. (CVE-2013-6420)</a:t>
            </a:r>
            <a:br>
              <a:rPr lang="en-US" dirty="0"/>
            </a:br>
            <a:br>
              <a:rPr lang="en-US" dirty="0"/>
            </a:br>
            <a:r>
              <a:rPr lang="en-US" dirty="0"/>
              <a:t>(NOTE : This plugin does not attempt to exploit these vulnerabilities, but instead relies only on PHP's self-reported version number.)</a:t>
            </a:r>
          </a:p>
          <a:p>
            <a:r>
              <a:rPr lang="en-US" b="1" dirty="0"/>
              <a:t>Solution :- </a:t>
            </a:r>
            <a:r>
              <a:rPr lang="en-US" dirty="0"/>
              <a:t>Upgrade to PHP version 5.3.28 or later.</a:t>
            </a:r>
          </a:p>
          <a:p>
            <a:pPr marL="0" indent="0">
              <a:buNone/>
            </a:pPr>
            <a:endParaRPr lang="en-IN" b="1" dirty="0"/>
          </a:p>
        </p:txBody>
      </p:sp>
    </p:spTree>
    <p:extLst>
      <p:ext uri="{BB962C8B-B14F-4D97-AF65-F5344CB8AC3E}">
        <p14:creationId xmlns:p14="http://schemas.microsoft.com/office/powerpoint/2010/main" val="702528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8A269-F336-4E3D-A84B-D00B5E2198B3}"/>
              </a:ext>
            </a:extLst>
          </p:cNvPr>
          <p:cNvSpPr>
            <a:spLocks noGrp="1"/>
          </p:cNvSpPr>
          <p:nvPr>
            <p:ph type="title"/>
          </p:nvPr>
        </p:nvSpPr>
        <p:spPr/>
        <p:txBody>
          <a:bodyPr>
            <a:normAutofit fontScale="90000"/>
          </a:bodyPr>
          <a:lstStyle/>
          <a:p>
            <a:pPr algn="ctr"/>
            <a:r>
              <a:rPr lang="en-IN" b="1" dirty="0"/>
              <a:t>PHP 5.3.x &lt; 5.3.29</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2DF0A849-655D-4414-84D0-AAA9E0F0B7C0}"/>
              </a:ext>
            </a:extLst>
          </p:cNvPr>
          <p:cNvSpPr>
            <a:spLocks noGrp="1"/>
          </p:cNvSpPr>
          <p:nvPr>
            <p:ph idx="1"/>
          </p:nvPr>
        </p:nvSpPr>
        <p:spPr>
          <a:xfrm>
            <a:off x="1451579" y="2012015"/>
            <a:ext cx="9603275" cy="4344823"/>
          </a:xfrm>
        </p:spPr>
        <p:txBody>
          <a:bodyPr>
            <a:normAutofit fontScale="40000" lnSpcReduction="20000"/>
          </a:bodyPr>
          <a:lstStyle/>
          <a:p>
            <a:r>
              <a:rPr lang="en-US" b="1" dirty="0"/>
              <a:t>Risk Factor :- </a:t>
            </a:r>
            <a:r>
              <a:rPr lang="en-US" dirty="0"/>
              <a:t>High</a:t>
            </a:r>
          </a:p>
          <a:p>
            <a:r>
              <a:rPr lang="en-US" b="1" dirty="0"/>
              <a:t>Description :- </a:t>
            </a:r>
            <a:r>
              <a:rPr lang="en-US" dirty="0"/>
              <a:t>According to its banner, the version of PHP installed on the remote host is 5.3.x prior to 5.3.29.</a:t>
            </a:r>
          </a:p>
          <a:p>
            <a:r>
              <a:rPr lang="en-US" b="1" dirty="0"/>
              <a:t>Impact :- </a:t>
            </a:r>
            <a:r>
              <a:rPr lang="en-US" dirty="0"/>
              <a:t>Potentially affected by the following vulnerabilities;</a:t>
            </a:r>
            <a:br>
              <a:rPr lang="en-US" dirty="0"/>
            </a:br>
            <a:r>
              <a:rPr lang="en-US" b="1" dirty="0"/>
              <a:t> </a:t>
            </a:r>
            <a:r>
              <a:rPr lang="en-US" dirty="0"/>
              <a:t>- A heap-based buffer overflow error exists in the file '</a:t>
            </a:r>
            <a:r>
              <a:rPr lang="en-US" dirty="0" err="1"/>
              <a:t>ext</a:t>
            </a:r>
            <a:r>
              <a:rPr lang="en-US" dirty="0"/>
              <a:t>/date/lib/</a:t>
            </a:r>
            <a:r>
              <a:rPr lang="en-US" dirty="0" err="1"/>
              <a:t>parse_iso_intervals.c</a:t>
            </a:r>
            <a:r>
              <a:rPr lang="en-US" dirty="0"/>
              <a:t>' related to handling </a:t>
            </a:r>
            <a:r>
              <a:rPr lang="en-US" dirty="0" err="1"/>
              <a:t>DateInterval</a:t>
            </a:r>
            <a:r>
              <a:rPr lang="en-US" dirty="0"/>
              <a:t> objects that allows denial of service attacks. (CVE-2013-6712)</a:t>
            </a:r>
            <a:br>
              <a:rPr lang="en-US" dirty="0"/>
            </a:br>
            <a:br>
              <a:rPr lang="en-US" dirty="0"/>
            </a:br>
            <a:r>
              <a:rPr lang="en-US" dirty="0"/>
              <a:t>- A boundary checking error exists related to the </a:t>
            </a:r>
            <a:r>
              <a:rPr lang="en-US" dirty="0" err="1"/>
              <a:t>Fileinfo</a:t>
            </a:r>
            <a:r>
              <a:rPr lang="en-US" dirty="0"/>
              <a:t> extension, Composite Document Format (CDF) handling, and the function '</a:t>
            </a:r>
            <a:r>
              <a:rPr lang="en-US" dirty="0" err="1"/>
              <a:t>cdf_read_short_sector</a:t>
            </a:r>
            <a:r>
              <a:rPr lang="en-US" dirty="0"/>
              <a:t>'. (CVE-2014-0207)</a:t>
            </a:r>
            <a:br>
              <a:rPr lang="en-US" dirty="0"/>
            </a:br>
            <a:br>
              <a:rPr lang="en-US" dirty="0"/>
            </a:br>
            <a:r>
              <a:rPr lang="en-US" dirty="0"/>
              <a:t>- A flaw exists with the '</a:t>
            </a:r>
            <a:r>
              <a:rPr lang="en-US" dirty="0" err="1"/>
              <a:t>cdf_unpack_summary_info</a:t>
            </a:r>
            <a:r>
              <a:rPr lang="en-US" dirty="0"/>
              <a:t>()' function within '</a:t>
            </a:r>
            <a:r>
              <a:rPr lang="en-US" dirty="0" err="1"/>
              <a:t>src</a:t>
            </a:r>
            <a:r>
              <a:rPr lang="en-US" dirty="0"/>
              <a:t>/</a:t>
            </a:r>
            <a:r>
              <a:rPr lang="en-US" dirty="0" err="1"/>
              <a:t>cdf.c</a:t>
            </a:r>
            <a:r>
              <a:rPr lang="en-US" dirty="0"/>
              <a:t>' where multiple </a:t>
            </a:r>
            <a:r>
              <a:rPr lang="en-US" dirty="0" err="1"/>
              <a:t>file_printf</a:t>
            </a:r>
            <a:r>
              <a:rPr lang="en-US" dirty="0"/>
              <a:t> calls occur when handling specially crafted CDF files.</a:t>
            </a:r>
            <a:br>
              <a:rPr lang="en-US" dirty="0"/>
            </a:br>
            <a:r>
              <a:rPr lang="en-US" dirty="0"/>
              <a:t>This could allow a context dependent attacker to crash the web application using PHP. (CVE-2014-0237)</a:t>
            </a:r>
            <a:br>
              <a:rPr lang="en-US" dirty="0"/>
            </a:br>
            <a:br>
              <a:rPr lang="en-US" dirty="0"/>
            </a:br>
            <a:r>
              <a:rPr lang="en-US" dirty="0"/>
              <a:t>- A flaw exists with the '</a:t>
            </a:r>
            <a:r>
              <a:rPr lang="en-US" dirty="0" err="1"/>
              <a:t>cdf_read_property_info</a:t>
            </a:r>
            <a:r>
              <a:rPr lang="en-US" dirty="0"/>
              <a:t>()' function within '</a:t>
            </a:r>
            <a:r>
              <a:rPr lang="en-US" dirty="0" err="1"/>
              <a:t>src</a:t>
            </a:r>
            <a:r>
              <a:rPr lang="en-US" dirty="0"/>
              <a:t>/</a:t>
            </a:r>
            <a:r>
              <a:rPr lang="en-US" dirty="0" err="1"/>
              <a:t>cdf.c</a:t>
            </a:r>
            <a:r>
              <a:rPr lang="en-US" dirty="0"/>
              <a:t>' where an infinite loop occurs when handling specially crafted CDF files. This could allow a context dependent attacker to crash the web application using PHP. (CVE-2014-0238)</a:t>
            </a:r>
            <a:br>
              <a:rPr lang="en-US" dirty="0"/>
            </a:br>
            <a:br>
              <a:rPr lang="en-US" dirty="0"/>
            </a:br>
            <a:r>
              <a:rPr lang="en-US" dirty="0"/>
              <a:t>- A type-confusion error exists related to the Standard PHP Library (SPL) extension and the function '</a:t>
            </a:r>
            <a:r>
              <a:rPr lang="en-US" dirty="0" err="1"/>
              <a:t>unserialize</a:t>
            </a:r>
            <a:r>
              <a:rPr lang="en-US" dirty="0"/>
              <a:t>'. (CVE-2014-3515)</a:t>
            </a:r>
            <a:br>
              <a:rPr lang="en-US" dirty="0"/>
            </a:br>
            <a:br>
              <a:rPr lang="en-US" dirty="0"/>
            </a:br>
            <a:r>
              <a:rPr lang="en-US" dirty="0"/>
              <a:t>- An error exists related to configuration scripts and temporary file handling that could allow insecure file usage. (CVE-2014-3981)</a:t>
            </a:r>
            <a:br>
              <a:rPr lang="en-US" dirty="0"/>
            </a:br>
            <a:br>
              <a:rPr lang="en-US" dirty="0"/>
            </a:br>
            <a:r>
              <a:rPr lang="en-US" dirty="0"/>
              <a:t>- A heap-based buffer overflow error exists related to the function '</a:t>
            </a:r>
            <a:r>
              <a:rPr lang="en-US" dirty="0" err="1"/>
              <a:t>dns_get_record</a:t>
            </a:r>
            <a:r>
              <a:rPr lang="en-US" dirty="0"/>
              <a:t>' that could allow execution of arbitrary code. (CVE-2014-4049)</a:t>
            </a:r>
            <a:br>
              <a:rPr lang="en-US" dirty="0"/>
            </a:br>
            <a:br>
              <a:rPr lang="en-US" dirty="0"/>
            </a:br>
            <a:r>
              <a:rPr lang="en-US" dirty="0"/>
              <a:t>- An out-of-bounds read exists in </a:t>
            </a:r>
            <a:r>
              <a:rPr lang="en-US" dirty="0" err="1"/>
              <a:t>printf</a:t>
            </a:r>
            <a:r>
              <a:rPr lang="en-US" dirty="0"/>
              <a:t>. (Bug #67249)</a:t>
            </a:r>
            <a:br>
              <a:rPr lang="en-US" dirty="0"/>
            </a:br>
            <a:br>
              <a:rPr lang="en-US" dirty="0"/>
            </a:br>
            <a:r>
              <a:rPr lang="en-US" dirty="0"/>
              <a:t>Note that Nessus has not attempted to exploit these issues, but has instead relied only on the application's self-reported version number.</a:t>
            </a:r>
            <a:br>
              <a:rPr lang="en-US" dirty="0"/>
            </a:br>
            <a:br>
              <a:rPr lang="en-US" dirty="0"/>
            </a:br>
            <a:r>
              <a:rPr lang="en-US" dirty="0"/>
              <a:t>Additionally, note that version 5.3.29 marks the end of support for the PHP 5.3.x branch.</a:t>
            </a:r>
          </a:p>
          <a:p>
            <a:r>
              <a:rPr lang="en-US" b="1" dirty="0"/>
              <a:t>Solution :- </a:t>
            </a:r>
            <a:r>
              <a:rPr lang="en-US" dirty="0"/>
              <a:t>Upgrade to PHP version 5.3.29 or later.</a:t>
            </a:r>
          </a:p>
          <a:p>
            <a:pPr marL="0" indent="0">
              <a:buNone/>
            </a:pPr>
            <a:endParaRPr lang="en-IN" dirty="0"/>
          </a:p>
        </p:txBody>
      </p:sp>
    </p:spTree>
    <p:extLst>
      <p:ext uri="{BB962C8B-B14F-4D97-AF65-F5344CB8AC3E}">
        <p14:creationId xmlns:p14="http://schemas.microsoft.com/office/powerpoint/2010/main" val="1867567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4CEE-A18D-4F06-9FAE-4D87592C5F4F}"/>
              </a:ext>
            </a:extLst>
          </p:cNvPr>
          <p:cNvSpPr>
            <a:spLocks noGrp="1"/>
          </p:cNvSpPr>
          <p:nvPr>
            <p:ph type="title"/>
          </p:nvPr>
        </p:nvSpPr>
        <p:spPr/>
        <p:txBody>
          <a:bodyPr>
            <a:normAutofit fontScale="90000"/>
          </a:bodyPr>
          <a:lstStyle/>
          <a:p>
            <a:pPr algn="ctr"/>
            <a:r>
              <a:rPr lang="en-US" b="1" dirty="0"/>
              <a:t>SSL</a:t>
            </a:r>
            <a:br>
              <a:rPr lang="en-US" b="1" dirty="0"/>
            </a:br>
            <a:r>
              <a:rPr lang="en-US" b="1" dirty="0"/>
              <a:t>(Version 2 and 3 Protocol Detection)</a:t>
            </a:r>
            <a:br>
              <a:rPr lang="en-US" b="1" dirty="0"/>
            </a:br>
            <a:endParaRPr lang="en-IN" dirty="0"/>
          </a:p>
        </p:txBody>
      </p:sp>
      <p:sp>
        <p:nvSpPr>
          <p:cNvPr id="3" name="Content Placeholder 2">
            <a:extLst>
              <a:ext uri="{FF2B5EF4-FFF2-40B4-BE49-F238E27FC236}">
                <a16:creationId xmlns:a16="http://schemas.microsoft.com/office/drawing/2014/main" id="{7E4186AF-9144-4A97-B254-31608C8E2B7D}"/>
              </a:ext>
            </a:extLst>
          </p:cNvPr>
          <p:cNvSpPr>
            <a:spLocks noGrp="1"/>
          </p:cNvSpPr>
          <p:nvPr>
            <p:ph idx="1"/>
          </p:nvPr>
        </p:nvSpPr>
        <p:spPr>
          <a:xfrm>
            <a:off x="1451579" y="2015732"/>
            <a:ext cx="9603275" cy="4037749"/>
          </a:xfrm>
        </p:spPr>
        <p:txBody>
          <a:bodyPr>
            <a:normAutofit fontScale="55000" lnSpcReduction="20000"/>
          </a:bodyPr>
          <a:lstStyle/>
          <a:p>
            <a:r>
              <a:rPr lang="en-US" b="1" dirty="0"/>
              <a:t>Risk Factor :- </a:t>
            </a:r>
            <a:r>
              <a:rPr lang="en-US" dirty="0"/>
              <a:t>High</a:t>
            </a:r>
          </a:p>
          <a:p>
            <a:r>
              <a:rPr lang="en-US" b="1" dirty="0"/>
              <a:t>Description :- </a:t>
            </a:r>
            <a:r>
              <a:rPr lang="en-US" dirty="0"/>
              <a:t>The remote service accepts connections encrypted using SSL 2.0 and/or SSL 3.0.</a:t>
            </a:r>
          </a:p>
          <a:p>
            <a:r>
              <a:rPr lang="en-US" b="1" dirty="0"/>
              <a:t>Impact :- </a:t>
            </a:r>
            <a:r>
              <a:rPr lang="en-US" dirty="0"/>
              <a:t>These versions of SSL are affected by several cryptographic flaws, including;</a:t>
            </a:r>
            <a:br>
              <a:rPr lang="en-US" dirty="0"/>
            </a:br>
            <a:br>
              <a:rPr lang="en-US" dirty="0"/>
            </a:br>
            <a:r>
              <a:rPr lang="en-US" dirty="0"/>
              <a:t>- An insecure padding scheme with CBC ciphers.</a:t>
            </a:r>
            <a:br>
              <a:rPr lang="en-US" dirty="0"/>
            </a:br>
            <a:br>
              <a:rPr lang="en-US" dirty="0"/>
            </a:br>
            <a:r>
              <a:rPr lang="en-US" dirty="0"/>
              <a:t>- Insecure session renegotiation and resumption schemes.</a:t>
            </a:r>
            <a:br>
              <a:rPr lang="en-US" dirty="0"/>
            </a:br>
            <a:br>
              <a:rPr lang="en-US" dirty="0"/>
            </a:br>
            <a:r>
              <a:rPr lang="en-US" dirty="0"/>
              <a:t>An attacker can exploit these flaws to conduct man-in-the-middle attacks or to decrypt communications between the affected service and clients.</a:t>
            </a:r>
            <a:br>
              <a:rPr lang="en-US" dirty="0"/>
            </a:br>
            <a:br>
              <a:rPr lang="en-US" dirty="0"/>
            </a:br>
            <a:r>
              <a:rPr lang="en-US" dirty="0"/>
              <a:t>Although SSL/TLS has a secure means for choosing the highest supported version of the protocol (so that these versions will be used only if the client or server support nothing better), many web browsers implement this in an unsafe way that allows an attacker to downgrade a connection (such as in POODLE). Therefore, it is recommended that these protocols be disabled entirely.</a:t>
            </a:r>
            <a:br>
              <a:rPr lang="en-US" dirty="0"/>
            </a:br>
            <a:br>
              <a:rPr lang="en-US" dirty="0"/>
            </a:br>
            <a:r>
              <a:rPr lang="en-US" dirty="0"/>
              <a:t>NIST has determined that SSL 3.0 is no longer acceptable for secure communications. As of the date of enforcement found in PCI DSS v3.1, any version of SSL will not meet the PCI SSC's definition of 'strong cryptography'.</a:t>
            </a:r>
          </a:p>
          <a:p>
            <a:r>
              <a:rPr lang="en-US" b="1" dirty="0"/>
              <a:t>Solution :- </a:t>
            </a:r>
            <a:r>
              <a:rPr lang="en-US" dirty="0"/>
              <a:t>Consult the application's documentation to disable SSL 2.0 and 3.0.</a:t>
            </a:r>
          </a:p>
          <a:p>
            <a:pPr marL="0" indent="0">
              <a:buNone/>
            </a:pPr>
            <a:r>
              <a:rPr lang="en-US" dirty="0"/>
              <a:t>                         Use TLS 1.2 (with approved cipher suites) or higher instead.</a:t>
            </a:r>
          </a:p>
          <a:p>
            <a:pPr marL="0" indent="0">
              <a:buNone/>
            </a:pPr>
            <a:endParaRPr lang="en-IN" dirty="0"/>
          </a:p>
        </p:txBody>
      </p:sp>
    </p:spTree>
    <p:extLst>
      <p:ext uri="{BB962C8B-B14F-4D97-AF65-F5344CB8AC3E}">
        <p14:creationId xmlns:p14="http://schemas.microsoft.com/office/powerpoint/2010/main" val="3509687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B94C8-B5B8-41E3-94CC-E7D662872378}"/>
              </a:ext>
            </a:extLst>
          </p:cNvPr>
          <p:cNvSpPr>
            <a:spLocks noGrp="1"/>
          </p:cNvSpPr>
          <p:nvPr>
            <p:ph type="title"/>
          </p:nvPr>
        </p:nvSpPr>
        <p:spPr/>
        <p:txBody>
          <a:bodyPr>
            <a:normAutofit fontScale="90000"/>
          </a:bodyPr>
          <a:lstStyle/>
          <a:p>
            <a:pPr algn="ctr"/>
            <a:r>
              <a:rPr lang="en-IN" b="1" dirty="0"/>
              <a:t>PHP &lt; 5.3.11</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2F05333D-6B1E-4D4B-9EB0-31A201B93493}"/>
              </a:ext>
            </a:extLst>
          </p:cNvPr>
          <p:cNvSpPr>
            <a:spLocks noGrp="1"/>
          </p:cNvSpPr>
          <p:nvPr>
            <p:ph idx="1"/>
          </p:nvPr>
        </p:nvSpPr>
        <p:spPr>
          <a:xfrm>
            <a:off x="1451579" y="2015732"/>
            <a:ext cx="9603275" cy="4103714"/>
          </a:xfrm>
        </p:spPr>
        <p:txBody>
          <a:bodyPr>
            <a:normAutofit fontScale="70000" lnSpcReduction="20000"/>
          </a:bodyPr>
          <a:lstStyle/>
          <a:p>
            <a:r>
              <a:rPr lang="en-US" b="1" dirty="0"/>
              <a:t>Risk Factor :- </a:t>
            </a:r>
            <a:r>
              <a:rPr lang="en-US" dirty="0"/>
              <a:t>Medium</a:t>
            </a:r>
          </a:p>
          <a:p>
            <a:r>
              <a:rPr lang="en-US" b="1" dirty="0"/>
              <a:t>Description :- </a:t>
            </a:r>
            <a:r>
              <a:rPr lang="en-US" dirty="0"/>
              <a:t>According to its banner, the version of PHP installed on the remote host is earlier than 5.3.11.</a:t>
            </a:r>
          </a:p>
          <a:p>
            <a:r>
              <a:rPr lang="en-US" b="1" dirty="0"/>
              <a:t>Impact :- </a:t>
            </a:r>
            <a:r>
              <a:rPr lang="en-US" dirty="0"/>
              <a:t>Potentially affected by the following vulnerabilities :</a:t>
            </a:r>
            <a:br>
              <a:rPr lang="en-US" dirty="0"/>
            </a:br>
            <a:br>
              <a:rPr lang="en-US" dirty="0"/>
            </a:br>
            <a:r>
              <a:rPr lang="en-US" dirty="0"/>
              <a:t>- During the import of environment variables, temporary changes to the '</a:t>
            </a:r>
            <a:r>
              <a:rPr lang="en-US" dirty="0" err="1"/>
              <a:t>magic_quotes_gpc</a:t>
            </a:r>
            <a:r>
              <a:rPr lang="en-US" dirty="0"/>
              <a:t>' directive are not handled properly. This can lower the difficulty for SQL injection attacks. (CVE-2012-0831)</a:t>
            </a:r>
            <a:br>
              <a:rPr lang="en-US" dirty="0"/>
            </a:br>
            <a:br>
              <a:rPr lang="en-US" dirty="0"/>
            </a:br>
            <a:r>
              <a:rPr lang="en-US" dirty="0"/>
              <a:t>- The '$_FILES' variable can be corrupted because the names of uploaded files are not properly validated.</a:t>
            </a:r>
            <a:br>
              <a:rPr lang="en-US" dirty="0"/>
            </a:br>
            <a:r>
              <a:rPr lang="en-US" dirty="0"/>
              <a:t>(CVE-2012-1172)</a:t>
            </a:r>
            <a:br>
              <a:rPr lang="en-US" dirty="0"/>
            </a:br>
            <a:br>
              <a:rPr lang="en-US" dirty="0"/>
            </a:br>
            <a:r>
              <a:rPr lang="en-US" dirty="0"/>
              <a:t>- The '</a:t>
            </a:r>
            <a:r>
              <a:rPr lang="en-US" dirty="0" err="1"/>
              <a:t>open_basedir</a:t>
            </a:r>
            <a:r>
              <a:rPr lang="en-US" dirty="0"/>
              <a:t>' directive is not properly handled by the functions '</a:t>
            </a:r>
            <a:r>
              <a:rPr lang="en-US" dirty="0" err="1"/>
              <a:t>readline_write_history</a:t>
            </a:r>
            <a:r>
              <a:rPr lang="en-US" dirty="0"/>
              <a:t>' and '</a:t>
            </a:r>
            <a:r>
              <a:rPr lang="en-US" dirty="0" err="1"/>
              <a:t>readline_read_history</a:t>
            </a:r>
            <a:r>
              <a:rPr lang="en-US" dirty="0"/>
              <a:t>'.</a:t>
            </a:r>
            <a:br>
              <a:rPr lang="en-US" dirty="0"/>
            </a:br>
            <a:br>
              <a:rPr lang="en-US" dirty="0"/>
            </a:br>
            <a:r>
              <a:rPr lang="en-US" dirty="0"/>
              <a:t>- The 'header()' function does not detect multi-line headers with a CR. (Bug #60227 / CVE-2011-1398)</a:t>
            </a:r>
          </a:p>
          <a:p>
            <a:r>
              <a:rPr lang="en-US" b="1" dirty="0"/>
              <a:t>Solution :- </a:t>
            </a:r>
            <a:r>
              <a:rPr lang="en-US" dirty="0"/>
              <a:t>Upgrade to PHP version 5.3.11 or later.</a:t>
            </a:r>
          </a:p>
          <a:p>
            <a:pPr marL="0" indent="0">
              <a:buNone/>
            </a:pPr>
            <a:endParaRPr lang="en-IN" b="1" dirty="0"/>
          </a:p>
        </p:txBody>
      </p:sp>
    </p:spTree>
    <p:extLst>
      <p:ext uri="{BB962C8B-B14F-4D97-AF65-F5344CB8AC3E}">
        <p14:creationId xmlns:p14="http://schemas.microsoft.com/office/powerpoint/2010/main" val="1405808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08DB0-B0D4-4484-98DD-21E16FDFE330}"/>
              </a:ext>
            </a:extLst>
          </p:cNvPr>
          <p:cNvSpPr>
            <a:spLocks noGrp="1"/>
          </p:cNvSpPr>
          <p:nvPr>
            <p:ph type="title"/>
          </p:nvPr>
        </p:nvSpPr>
        <p:spPr/>
        <p:txBody>
          <a:bodyPr>
            <a:normAutofit fontScale="90000"/>
          </a:bodyPr>
          <a:lstStyle/>
          <a:p>
            <a:pPr algn="ctr"/>
            <a:r>
              <a:rPr lang="en-IN" b="1" dirty="0"/>
              <a:t>PHP 5.3.x &lt; 5.3.26</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4FF68F9A-C951-454F-A7FF-7D42D2961E84}"/>
              </a:ext>
            </a:extLst>
          </p:cNvPr>
          <p:cNvSpPr>
            <a:spLocks noGrp="1"/>
          </p:cNvSpPr>
          <p:nvPr>
            <p:ph idx="1"/>
          </p:nvPr>
        </p:nvSpPr>
        <p:spPr>
          <a:xfrm>
            <a:off x="1451579" y="2015732"/>
            <a:ext cx="9603275" cy="4037749"/>
          </a:xfrm>
        </p:spPr>
        <p:txBody>
          <a:bodyPr>
            <a:normAutofit fontScale="77500" lnSpcReduction="20000"/>
          </a:bodyPr>
          <a:lstStyle/>
          <a:p>
            <a:r>
              <a:rPr lang="en-US" b="1" dirty="0"/>
              <a:t>Risk Factor :- </a:t>
            </a:r>
            <a:r>
              <a:rPr lang="en-US" dirty="0"/>
              <a:t>Medium</a:t>
            </a:r>
          </a:p>
          <a:p>
            <a:r>
              <a:rPr lang="en-US" b="1" dirty="0"/>
              <a:t>Description :- </a:t>
            </a:r>
            <a:r>
              <a:rPr lang="en-US" dirty="0"/>
              <a:t>According to its banner, the version of PHP 5.3.x installed on the remote host is prior to 5.3.26.</a:t>
            </a:r>
          </a:p>
          <a:p>
            <a:r>
              <a:rPr lang="en-US" b="1" dirty="0"/>
              <a:t>Impact :- </a:t>
            </a:r>
            <a:r>
              <a:rPr lang="en-US" dirty="0"/>
              <a:t>Potentially affected by the following vulnerabilities:</a:t>
            </a:r>
            <a:br>
              <a:rPr lang="en-US" dirty="0"/>
            </a:br>
            <a:br>
              <a:rPr lang="en-US" dirty="0"/>
            </a:br>
            <a:r>
              <a:rPr lang="en-US" dirty="0"/>
              <a:t>- An error exists in the function '</a:t>
            </a:r>
            <a:r>
              <a:rPr lang="en-US" dirty="0" err="1"/>
              <a:t>php_quot_print_encode</a:t>
            </a:r>
            <a:r>
              <a:rPr lang="en-US" dirty="0"/>
              <a:t>' in the file '</a:t>
            </a:r>
            <a:r>
              <a:rPr lang="en-US" dirty="0" err="1"/>
              <a:t>ext</a:t>
            </a:r>
            <a:r>
              <a:rPr lang="en-US" dirty="0"/>
              <a:t>/standard/</a:t>
            </a:r>
            <a:r>
              <a:rPr lang="en-US" dirty="0" err="1"/>
              <a:t>quot_print.c</a:t>
            </a:r>
            <a:r>
              <a:rPr lang="en-US" dirty="0"/>
              <a:t>' that could allow a heap-based buffer overflow when attempting to parse certain strings (Bug #64879)</a:t>
            </a:r>
            <a:br>
              <a:rPr lang="en-US" dirty="0"/>
            </a:br>
            <a:br>
              <a:rPr lang="en-US" dirty="0"/>
            </a:br>
            <a:r>
              <a:rPr lang="en-US" dirty="0"/>
              <a:t>- An integer overflow error exists related to the value of 'JEWISH_SDN_MAX' in the file '</a:t>
            </a:r>
            <a:r>
              <a:rPr lang="en-US" dirty="0" err="1"/>
              <a:t>ext</a:t>
            </a:r>
            <a:r>
              <a:rPr lang="en-US" dirty="0"/>
              <a:t>/calendar/</a:t>
            </a:r>
            <a:r>
              <a:rPr lang="en-US" dirty="0" err="1"/>
              <a:t>jewish.c</a:t>
            </a:r>
            <a:r>
              <a:rPr lang="en-US" dirty="0"/>
              <a:t>' that could allow denial of service attacks. (Bug #64895)</a:t>
            </a:r>
            <a:br>
              <a:rPr lang="en-US" dirty="0"/>
            </a:br>
            <a:br>
              <a:rPr lang="en-US" dirty="0"/>
            </a:br>
            <a:r>
              <a:rPr lang="en-US" dirty="0"/>
              <a:t>(NOTE : This plugin does not attempt to exploit these vulnerabilities, but instead relies only on PHP's self-reported version number.)</a:t>
            </a:r>
          </a:p>
          <a:p>
            <a:r>
              <a:rPr lang="en-US" b="1" dirty="0"/>
              <a:t>Solution :- </a:t>
            </a:r>
            <a:r>
              <a:rPr lang="en-US" dirty="0"/>
              <a:t>Apply the vendor patch or upgrade to PHP version 5.3.26 or later.</a:t>
            </a:r>
          </a:p>
          <a:p>
            <a:pPr marL="0" indent="0">
              <a:buNone/>
            </a:pPr>
            <a:endParaRPr lang="en-IN" dirty="0"/>
          </a:p>
        </p:txBody>
      </p:sp>
    </p:spTree>
    <p:extLst>
      <p:ext uri="{BB962C8B-B14F-4D97-AF65-F5344CB8AC3E}">
        <p14:creationId xmlns:p14="http://schemas.microsoft.com/office/powerpoint/2010/main" val="7263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9B79A-4CD1-47C9-BCDF-CE239D0A3E65}"/>
              </a:ext>
            </a:extLst>
          </p:cNvPr>
          <p:cNvSpPr>
            <a:spLocks noGrp="1"/>
          </p:cNvSpPr>
          <p:nvPr>
            <p:ph type="title"/>
          </p:nvPr>
        </p:nvSpPr>
        <p:spPr/>
        <p:txBody>
          <a:bodyPr>
            <a:normAutofit fontScale="90000"/>
          </a:bodyPr>
          <a:lstStyle/>
          <a:p>
            <a:pPr algn="ctr"/>
            <a:r>
              <a:rPr lang="en-IN" b="1" dirty="0"/>
              <a:t>PHP 5.3.x &lt; 5.3.27</a:t>
            </a:r>
            <a:br>
              <a:rPr lang="en-IN" b="1" dirty="0"/>
            </a:br>
            <a:r>
              <a:rPr lang="en-IN" b="1" dirty="0"/>
              <a:t>(Multiple Vulnerabilities)</a:t>
            </a:r>
            <a:br>
              <a:rPr lang="en-IN" b="1" dirty="0"/>
            </a:br>
            <a:endParaRPr lang="en-IN" dirty="0"/>
          </a:p>
        </p:txBody>
      </p:sp>
      <p:sp>
        <p:nvSpPr>
          <p:cNvPr id="3" name="Content Placeholder 2">
            <a:extLst>
              <a:ext uri="{FF2B5EF4-FFF2-40B4-BE49-F238E27FC236}">
                <a16:creationId xmlns:a16="http://schemas.microsoft.com/office/drawing/2014/main" id="{A98C4385-ABB7-4B9E-8974-3E78C8899FD9}"/>
              </a:ext>
            </a:extLst>
          </p:cNvPr>
          <p:cNvSpPr>
            <a:spLocks noGrp="1"/>
          </p:cNvSpPr>
          <p:nvPr>
            <p:ph idx="1"/>
          </p:nvPr>
        </p:nvSpPr>
        <p:spPr>
          <a:xfrm>
            <a:off x="1451579" y="2015732"/>
            <a:ext cx="9603275" cy="4037749"/>
          </a:xfrm>
        </p:spPr>
        <p:txBody>
          <a:bodyPr>
            <a:normAutofit fontScale="85000" lnSpcReduction="20000"/>
          </a:bodyPr>
          <a:lstStyle/>
          <a:p>
            <a:r>
              <a:rPr lang="en-US" b="1" dirty="0"/>
              <a:t>Risk Factor :- </a:t>
            </a:r>
            <a:r>
              <a:rPr lang="en-US" dirty="0"/>
              <a:t>Medium</a:t>
            </a:r>
          </a:p>
          <a:p>
            <a:r>
              <a:rPr lang="en-US" b="1" dirty="0"/>
              <a:t>Description :- </a:t>
            </a:r>
            <a:r>
              <a:rPr lang="en-US" dirty="0"/>
              <a:t>According to its banner, the version of PHP 5.3.x installed on the remote host is prior to 5.3.27.</a:t>
            </a:r>
          </a:p>
          <a:p>
            <a:r>
              <a:rPr lang="en-US" b="1" dirty="0"/>
              <a:t>Impact :- </a:t>
            </a:r>
            <a:r>
              <a:rPr lang="en-US" dirty="0"/>
              <a:t>Potentially affected by the following vulnerabilities:</a:t>
            </a:r>
            <a:br>
              <a:rPr lang="en-US" dirty="0"/>
            </a:br>
            <a:br>
              <a:rPr lang="en-US" dirty="0"/>
            </a:br>
            <a:r>
              <a:rPr lang="en-US" dirty="0"/>
              <a:t>- A buffer overflow error exists in the function '_</a:t>
            </a:r>
            <a:r>
              <a:rPr lang="en-US" dirty="0" err="1"/>
              <a:t>pdo_pgsql_error</a:t>
            </a:r>
            <a:r>
              <a:rPr lang="en-US" dirty="0"/>
              <a:t>'. (Bug #64949)</a:t>
            </a:r>
            <a:br>
              <a:rPr lang="en-US" dirty="0"/>
            </a:br>
            <a:br>
              <a:rPr lang="en-US" dirty="0"/>
            </a:br>
            <a:r>
              <a:rPr lang="en-US" dirty="0"/>
              <a:t>- A heap corruption error exists in numerous functions in the file '</a:t>
            </a:r>
            <a:r>
              <a:rPr lang="en-US" dirty="0" err="1"/>
              <a:t>ext</a:t>
            </a:r>
            <a:r>
              <a:rPr lang="en-US" dirty="0"/>
              <a:t>/xml/</a:t>
            </a:r>
            <a:r>
              <a:rPr lang="en-US" dirty="0" err="1"/>
              <a:t>xml.c</a:t>
            </a:r>
            <a:r>
              <a:rPr lang="en-US" dirty="0"/>
              <a:t>'. (CVE-2013-4113 / Bug #65236)</a:t>
            </a:r>
            <a:br>
              <a:rPr lang="en-US" dirty="0"/>
            </a:br>
            <a:br>
              <a:rPr lang="en-US" dirty="0"/>
            </a:br>
            <a:r>
              <a:rPr lang="en-US" dirty="0"/>
              <a:t>(NOTE : This plugin does not attempt to exploit these vulnerabilities, but instead relies only on PHP's self-reported version number.)</a:t>
            </a:r>
          </a:p>
          <a:p>
            <a:r>
              <a:rPr lang="en-US" b="1" dirty="0"/>
              <a:t>Solution :- </a:t>
            </a:r>
            <a:r>
              <a:rPr lang="en-US" dirty="0"/>
              <a:t>Apply the vendor patch or upgrade to PHP version 5.3.27 or later.</a:t>
            </a:r>
          </a:p>
          <a:p>
            <a:pPr marL="0" indent="0">
              <a:buNone/>
            </a:pPr>
            <a:endParaRPr lang="en-IN" dirty="0"/>
          </a:p>
        </p:txBody>
      </p:sp>
    </p:spTree>
    <p:extLst>
      <p:ext uri="{BB962C8B-B14F-4D97-AF65-F5344CB8AC3E}">
        <p14:creationId xmlns:p14="http://schemas.microsoft.com/office/powerpoint/2010/main" val="3590162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FBD29-C8ED-4961-AB0D-9614352F6D00}"/>
              </a:ext>
            </a:extLst>
          </p:cNvPr>
          <p:cNvSpPr>
            <a:spLocks noGrp="1"/>
          </p:cNvSpPr>
          <p:nvPr>
            <p:ph type="title"/>
          </p:nvPr>
        </p:nvSpPr>
        <p:spPr/>
        <p:txBody>
          <a:bodyPr>
            <a:normAutofit fontScale="90000"/>
          </a:bodyPr>
          <a:lstStyle/>
          <a:p>
            <a:pPr algn="ctr"/>
            <a:r>
              <a:rPr lang="en-US" b="1" dirty="0"/>
              <a:t>PHP PHP_RSHUTDOWN_FUNCTION</a:t>
            </a:r>
            <a:br>
              <a:rPr lang="en-US" b="1" dirty="0"/>
            </a:br>
            <a:r>
              <a:rPr lang="en-US" b="1" dirty="0"/>
              <a:t>(Security Bypass)</a:t>
            </a:r>
            <a:br>
              <a:rPr lang="en-US" b="1" dirty="0"/>
            </a:br>
            <a:endParaRPr lang="en-IN" dirty="0"/>
          </a:p>
        </p:txBody>
      </p:sp>
      <p:sp>
        <p:nvSpPr>
          <p:cNvPr id="3" name="Content Placeholder 2">
            <a:extLst>
              <a:ext uri="{FF2B5EF4-FFF2-40B4-BE49-F238E27FC236}">
                <a16:creationId xmlns:a16="http://schemas.microsoft.com/office/drawing/2014/main" id="{1C7DC56D-D759-4D4E-A245-41CF7438F91F}"/>
              </a:ext>
            </a:extLst>
          </p:cNvPr>
          <p:cNvSpPr>
            <a:spLocks noGrp="1"/>
          </p:cNvSpPr>
          <p:nvPr>
            <p:ph idx="1"/>
          </p:nvPr>
        </p:nvSpPr>
        <p:spPr>
          <a:xfrm>
            <a:off x="1451579" y="2015732"/>
            <a:ext cx="9603275" cy="4037749"/>
          </a:xfrm>
        </p:spPr>
        <p:txBody>
          <a:bodyPr>
            <a:normAutofit fontScale="92500" lnSpcReduction="20000"/>
          </a:bodyPr>
          <a:lstStyle/>
          <a:p>
            <a:r>
              <a:rPr lang="en-US" b="1" dirty="0"/>
              <a:t>Risk Factor :- </a:t>
            </a:r>
            <a:r>
              <a:rPr lang="en-US" dirty="0"/>
              <a:t>Medium</a:t>
            </a:r>
          </a:p>
          <a:p>
            <a:r>
              <a:rPr lang="en-US" b="1" dirty="0"/>
              <a:t>Description :- </a:t>
            </a:r>
            <a:r>
              <a:rPr lang="en-US" dirty="0"/>
              <a:t>According to its banner, the version of PHP 5.x installed on the remote host is 5.x prior to 5.3.11 or 5.4.x prior to 5.4.1.</a:t>
            </a:r>
          </a:p>
          <a:p>
            <a:r>
              <a:rPr lang="en-US" b="1" dirty="0"/>
              <a:t>Impact :- </a:t>
            </a:r>
            <a:r>
              <a:rPr lang="en-US" dirty="0"/>
              <a:t>Potentially affected by a security bypass vulnerability.</a:t>
            </a:r>
            <a:br>
              <a:rPr lang="en-US" dirty="0"/>
            </a:br>
            <a:br>
              <a:rPr lang="en-US" dirty="0"/>
            </a:br>
            <a:r>
              <a:rPr lang="en-US" dirty="0"/>
              <a:t>An error exists related to the function 'PHP_RSHUTDOWN_FUNCTION' in the </a:t>
            </a:r>
            <a:r>
              <a:rPr lang="en-US" dirty="0" err="1"/>
              <a:t>libxml</a:t>
            </a:r>
            <a:r>
              <a:rPr lang="en-US" dirty="0"/>
              <a:t> extension and the '</a:t>
            </a:r>
            <a:r>
              <a:rPr lang="en-US" dirty="0" err="1"/>
              <a:t>stream_close</a:t>
            </a:r>
            <a:r>
              <a:rPr lang="en-US" dirty="0"/>
              <a:t>' method that could allow a remote attacker to bypass '</a:t>
            </a:r>
            <a:r>
              <a:rPr lang="en-US" dirty="0" err="1"/>
              <a:t>open_basedir</a:t>
            </a:r>
            <a:r>
              <a:rPr lang="en-US" dirty="0"/>
              <a:t>' protections and obtain sensitive information.</a:t>
            </a:r>
            <a:br>
              <a:rPr lang="en-US" dirty="0"/>
            </a:br>
            <a:br>
              <a:rPr lang="en-US" dirty="0"/>
            </a:br>
            <a:r>
              <a:rPr lang="en-US" dirty="0"/>
              <a:t>(NOTE : This plugin has not attempted to exploit this issue, but has instead relied only on PHP's self-reported version number.)</a:t>
            </a:r>
          </a:p>
          <a:p>
            <a:r>
              <a:rPr lang="en-US" b="1" dirty="0"/>
              <a:t>Solution :- </a:t>
            </a:r>
            <a:r>
              <a:rPr lang="en-US" dirty="0"/>
              <a:t>Upgrade to PHP version 5.3.11 / 5.4.1 or later.</a:t>
            </a:r>
          </a:p>
          <a:p>
            <a:pPr marL="0" indent="0">
              <a:buNone/>
            </a:pPr>
            <a:endParaRPr lang="en-IN" dirty="0"/>
          </a:p>
        </p:txBody>
      </p:sp>
    </p:spTree>
    <p:extLst>
      <p:ext uri="{BB962C8B-B14F-4D97-AF65-F5344CB8AC3E}">
        <p14:creationId xmlns:p14="http://schemas.microsoft.com/office/powerpoint/2010/main" val="1776681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DEDC9C-109A-48ED-8244-3B67D0A7F9D9}"/>
              </a:ext>
            </a:extLst>
          </p:cNvPr>
          <p:cNvSpPr>
            <a:spLocks noGrp="1"/>
          </p:cNvSpPr>
          <p:nvPr>
            <p:ph type="title"/>
          </p:nvPr>
        </p:nvSpPr>
        <p:spPr/>
        <p:txBody>
          <a:bodyPr>
            <a:normAutofit fontScale="90000"/>
          </a:bodyPr>
          <a:lstStyle/>
          <a:p>
            <a:pPr algn="ctr"/>
            <a:r>
              <a:rPr lang="en-US" b="1" dirty="0"/>
              <a:t>SSL</a:t>
            </a:r>
            <a:br>
              <a:rPr lang="en-US" b="1" dirty="0"/>
            </a:br>
            <a:r>
              <a:rPr lang="en-US" b="1" dirty="0"/>
              <a:t>(Certificate Cannot Be Trusted)</a:t>
            </a:r>
            <a:br>
              <a:rPr lang="en-US" b="1" dirty="0"/>
            </a:br>
            <a:endParaRPr lang="en-IN" dirty="0"/>
          </a:p>
        </p:txBody>
      </p:sp>
      <p:sp>
        <p:nvSpPr>
          <p:cNvPr id="3" name="Content Placeholder 2">
            <a:extLst>
              <a:ext uri="{FF2B5EF4-FFF2-40B4-BE49-F238E27FC236}">
                <a16:creationId xmlns:a16="http://schemas.microsoft.com/office/drawing/2014/main" id="{F7E33920-A77B-4969-BB17-A916E1EFE2B7}"/>
              </a:ext>
            </a:extLst>
          </p:cNvPr>
          <p:cNvSpPr>
            <a:spLocks noGrp="1"/>
          </p:cNvSpPr>
          <p:nvPr>
            <p:ph idx="1"/>
          </p:nvPr>
        </p:nvSpPr>
        <p:spPr>
          <a:xfrm>
            <a:off x="1451579" y="2015732"/>
            <a:ext cx="9603275" cy="4037749"/>
          </a:xfrm>
        </p:spPr>
        <p:txBody>
          <a:bodyPr>
            <a:normAutofit fontScale="62500" lnSpcReduction="20000"/>
          </a:bodyPr>
          <a:lstStyle/>
          <a:p>
            <a:r>
              <a:rPr lang="en-US" b="1" dirty="0"/>
              <a:t>Risk Factor :- </a:t>
            </a:r>
            <a:r>
              <a:rPr lang="en-US" dirty="0"/>
              <a:t>Medium</a:t>
            </a:r>
          </a:p>
          <a:p>
            <a:r>
              <a:rPr lang="en-US" b="1" dirty="0"/>
              <a:t>Description :- </a:t>
            </a:r>
            <a:r>
              <a:rPr lang="en-US" dirty="0"/>
              <a:t>The server's X.509 certificate cannot be trusted. This situation can occur in three different ways, in which the chain of trust can be broken, as stated below :</a:t>
            </a:r>
            <a:br>
              <a:rPr lang="en-US" dirty="0"/>
            </a:br>
            <a:br>
              <a:rPr lang="en-US" dirty="0"/>
            </a:br>
            <a:r>
              <a:rPr lang="en-US" dirty="0"/>
              <a:t>- First, the top of the certificate chain sent by the server might not be descended from a known public certificate authority. This can occur either when the top of the chain is an unrecognized, self-signed certificate, or when intermediate certificates are missing that would connect the top of the certificate chain to a known public certificate authority.</a:t>
            </a:r>
            <a:br>
              <a:rPr lang="en-US" dirty="0"/>
            </a:br>
            <a:br>
              <a:rPr lang="en-US" dirty="0"/>
            </a:br>
            <a:r>
              <a:rPr lang="en-US" dirty="0"/>
              <a:t>- Second, the certificate chain may contain a certificate that is not valid at the time of the scan. This can occur either when the scan occurs before one of the certificate's '</a:t>
            </a:r>
            <a:r>
              <a:rPr lang="en-US" dirty="0" err="1"/>
              <a:t>notBefore</a:t>
            </a:r>
            <a:r>
              <a:rPr lang="en-US" dirty="0"/>
              <a:t>' dates, or after one of the certificate's '</a:t>
            </a:r>
            <a:r>
              <a:rPr lang="en-US" dirty="0" err="1"/>
              <a:t>notAfter</a:t>
            </a:r>
            <a:r>
              <a:rPr lang="en-US" dirty="0"/>
              <a:t>' dates.</a:t>
            </a:r>
            <a:br>
              <a:rPr lang="en-US" dirty="0"/>
            </a:br>
            <a:br>
              <a:rPr lang="en-US" dirty="0"/>
            </a:br>
            <a:r>
              <a:rPr lang="en-US" dirty="0"/>
              <a:t>- Third, the certificate chain may contain a signature that either didn't match the certificate's information or could not be verified. Bad signatures can be fixed by getting the certificate with the bad signature to be re-signed by its issuer. Signatures that could not be verified are the result of the certificate's issuer using a signing algorithm that Nessus either does not support or does not recognize.</a:t>
            </a:r>
          </a:p>
          <a:p>
            <a:r>
              <a:rPr lang="en-US" b="1" dirty="0"/>
              <a:t>Impact :- </a:t>
            </a:r>
            <a:r>
              <a:rPr lang="en-US" dirty="0"/>
              <a:t>If the remote host is a public host in production, any break in the chain makes it more difficult for users to verify the authenticity and identity of the web server. This could make it easier to carry out man-in-the-middle attacks against the remote host.</a:t>
            </a:r>
          </a:p>
          <a:p>
            <a:r>
              <a:rPr lang="en-US" b="1" dirty="0"/>
              <a:t>Solution :- </a:t>
            </a:r>
            <a:r>
              <a:rPr lang="en-US" dirty="0"/>
              <a:t>Purchase or generate a proper SSL certificate for this service.</a:t>
            </a:r>
          </a:p>
          <a:p>
            <a:pPr marL="0" indent="0">
              <a:buNone/>
            </a:pPr>
            <a:endParaRPr lang="en-IN" b="1" dirty="0"/>
          </a:p>
        </p:txBody>
      </p:sp>
    </p:spTree>
    <p:extLst>
      <p:ext uri="{BB962C8B-B14F-4D97-AF65-F5344CB8AC3E}">
        <p14:creationId xmlns:p14="http://schemas.microsoft.com/office/powerpoint/2010/main" val="9905439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E7968-5D22-4E75-B648-103A7EAC6485}"/>
              </a:ext>
            </a:extLst>
          </p:cNvPr>
          <p:cNvSpPr>
            <a:spLocks noGrp="1"/>
          </p:cNvSpPr>
          <p:nvPr>
            <p:ph type="title"/>
          </p:nvPr>
        </p:nvSpPr>
        <p:spPr/>
        <p:txBody>
          <a:bodyPr>
            <a:normAutofit fontScale="90000"/>
          </a:bodyPr>
          <a:lstStyle/>
          <a:p>
            <a:pPr algn="ctr"/>
            <a:r>
              <a:rPr lang="en-IN" b="1" dirty="0"/>
              <a:t>SSL</a:t>
            </a:r>
            <a:br>
              <a:rPr lang="en-IN" b="1" dirty="0"/>
            </a:br>
            <a:r>
              <a:rPr lang="en-IN" b="1" dirty="0"/>
              <a:t>(Certificate Expiry)</a:t>
            </a:r>
            <a:br>
              <a:rPr lang="en-IN" b="1" dirty="0"/>
            </a:br>
            <a:endParaRPr lang="en-IN" dirty="0"/>
          </a:p>
        </p:txBody>
      </p:sp>
      <p:sp>
        <p:nvSpPr>
          <p:cNvPr id="3" name="Content Placeholder 2">
            <a:extLst>
              <a:ext uri="{FF2B5EF4-FFF2-40B4-BE49-F238E27FC236}">
                <a16:creationId xmlns:a16="http://schemas.microsoft.com/office/drawing/2014/main" id="{9AFEF09F-4BFD-485E-80A5-778DCCF9FA11}"/>
              </a:ext>
            </a:extLst>
          </p:cNvPr>
          <p:cNvSpPr>
            <a:spLocks noGrp="1"/>
          </p:cNvSpPr>
          <p:nvPr>
            <p:ph idx="1"/>
          </p:nvPr>
        </p:nvSpPr>
        <p:spPr>
          <a:xfrm>
            <a:off x="1451579" y="2015732"/>
            <a:ext cx="9603275" cy="4037749"/>
          </a:xfrm>
        </p:spPr>
        <p:txBody>
          <a:bodyPr/>
          <a:lstStyle/>
          <a:p>
            <a:r>
              <a:rPr lang="en-US" b="1" dirty="0"/>
              <a:t>Risk Factor :- </a:t>
            </a:r>
            <a:r>
              <a:rPr lang="en-US" dirty="0"/>
              <a:t>Medium</a:t>
            </a:r>
          </a:p>
          <a:p>
            <a:r>
              <a:rPr lang="en-US" b="1" dirty="0"/>
              <a:t>Description :- </a:t>
            </a:r>
            <a:r>
              <a:rPr lang="en-US" dirty="0"/>
              <a:t>This plugin checks expiry dates of certificates associated with SSL- enabled services on the target and reports whether any have already expired.</a:t>
            </a:r>
          </a:p>
          <a:p>
            <a:r>
              <a:rPr lang="en-US" b="1" dirty="0"/>
              <a:t>Impact :- </a:t>
            </a:r>
            <a:r>
              <a:rPr lang="en-US" dirty="0"/>
              <a:t>Possibility for Man-in-the-middle attacks.</a:t>
            </a:r>
            <a:endParaRPr lang="en-US" b="1" dirty="0"/>
          </a:p>
          <a:p>
            <a:r>
              <a:rPr lang="en-US" b="1" dirty="0"/>
              <a:t>Solution :- </a:t>
            </a:r>
            <a:r>
              <a:rPr lang="en-US" dirty="0"/>
              <a:t>Purchase or generate a new SSL certificate to replace the existing one.</a:t>
            </a:r>
          </a:p>
          <a:p>
            <a:pPr marL="0" indent="0">
              <a:buNone/>
            </a:pPr>
            <a:endParaRPr lang="en-IN" dirty="0"/>
          </a:p>
        </p:txBody>
      </p:sp>
    </p:spTree>
    <p:extLst>
      <p:ext uri="{BB962C8B-B14F-4D97-AF65-F5344CB8AC3E}">
        <p14:creationId xmlns:p14="http://schemas.microsoft.com/office/powerpoint/2010/main" val="157487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D35F5-2B94-4CE3-8A73-B07D8740ABF6}"/>
              </a:ext>
            </a:extLst>
          </p:cNvPr>
          <p:cNvSpPr>
            <a:spLocks noGrp="1"/>
          </p:cNvSpPr>
          <p:nvPr>
            <p:ph type="title"/>
          </p:nvPr>
        </p:nvSpPr>
        <p:spPr/>
        <p:txBody>
          <a:bodyPr>
            <a:normAutofit fontScale="90000"/>
          </a:bodyPr>
          <a:lstStyle/>
          <a:p>
            <a:pPr algn="ctr"/>
            <a:r>
              <a:rPr lang="en-US" b="1" dirty="0"/>
              <a:t>SSL</a:t>
            </a:r>
            <a:br>
              <a:rPr lang="en-US" b="1" dirty="0"/>
            </a:br>
            <a:r>
              <a:rPr lang="en-US" b="1" dirty="0"/>
              <a:t>(Certificate with Wrong Hostname)</a:t>
            </a:r>
            <a:br>
              <a:rPr lang="en-US" b="1" dirty="0"/>
            </a:br>
            <a:endParaRPr lang="en-IN" dirty="0"/>
          </a:p>
        </p:txBody>
      </p:sp>
      <p:sp>
        <p:nvSpPr>
          <p:cNvPr id="3" name="Content Placeholder 2">
            <a:extLst>
              <a:ext uri="{FF2B5EF4-FFF2-40B4-BE49-F238E27FC236}">
                <a16:creationId xmlns:a16="http://schemas.microsoft.com/office/drawing/2014/main" id="{07B584CF-0225-47F8-8EBE-7364B32E266E}"/>
              </a:ext>
            </a:extLst>
          </p:cNvPr>
          <p:cNvSpPr>
            <a:spLocks noGrp="1"/>
          </p:cNvSpPr>
          <p:nvPr>
            <p:ph idx="1"/>
          </p:nvPr>
        </p:nvSpPr>
        <p:spPr>
          <a:xfrm>
            <a:off x="1451579" y="2015732"/>
            <a:ext cx="9603275" cy="4037749"/>
          </a:xfrm>
        </p:spPr>
        <p:txBody>
          <a:bodyPr/>
          <a:lstStyle/>
          <a:p>
            <a:r>
              <a:rPr lang="en-US" b="1" dirty="0"/>
              <a:t>Risk Factor :- </a:t>
            </a:r>
            <a:r>
              <a:rPr lang="en-US" dirty="0"/>
              <a:t>Medium</a:t>
            </a:r>
          </a:p>
          <a:p>
            <a:r>
              <a:rPr lang="en-US" b="1" dirty="0"/>
              <a:t>Description :- </a:t>
            </a:r>
            <a:r>
              <a:rPr lang="en-US" dirty="0"/>
              <a:t>The '</a:t>
            </a:r>
            <a:r>
              <a:rPr lang="en-US" dirty="0" err="1"/>
              <a:t>commonName</a:t>
            </a:r>
            <a:r>
              <a:rPr lang="en-US" dirty="0"/>
              <a:t>' (CN) attribute of the SSL certificate presented for this service is for a different machine.</a:t>
            </a:r>
          </a:p>
          <a:p>
            <a:r>
              <a:rPr lang="en-US" b="1" dirty="0"/>
              <a:t>Impact :- </a:t>
            </a:r>
            <a:r>
              <a:rPr lang="en-US" dirty="0"/>
              <a:t>Possibility for improper authentication.</a:t>
            </a:r>
            <a:endParaRPr lang="en-US" b="1" dirty="0"/>
          </a:p>
          <a:p>
            <a:r>
              <a:rPr lang="en-US" b="1" dirty="0"/>
              <a:t>Solution :- </a:t>
            </a:r>
            <a:r>
              <a:rPr lang="en-US" dirty="0"/>
              <a:t>Purchase or generate a proper SSL certificate for this service.</a:t>
            </a:r>
          </a:p>
          <a:p>
            <a:pPr marL="0" indent="0">
              <a:buNone/>
            </a:pPr>
            <a:endParaRPr lang="en-IN" dirty="0"/>
          </a:p>
        </p:txBody>
      </p:sp>
    </p:spTree>
    <p:extLst>
      <p:ext uri="{BB962C8B-B14F-4D97-AF65-F5344CB8AC3E}">
        <p14:creationId xmlns:p14="http://schemas.microsoft.com/office/powerpoint/2010/main" val="8193482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D4E80-CCDD-4E4D-899D-27DD87E6F5EF}"/>
              </a:ext>
            </a:extLst>
          </p:cNvPr>
          <p:cNvSpPr>
            <a:spLocks noGrp="1"/>
          </p:cNvSpPr>
          <p:nvPr>
            <p:ph type="title"/>
          </p:nvPr>
        </p:nvSpPr>
        <p:spPr/>
        <p:txBody>
          <a:bodyPr>
            <a:normAutofit fontScale="90000"/>
          </a:bodyPr>
          <a:lstStyle/>
          <a:p>
            <a:pPr algn="ctr"/>
            <a:r>
              <a:rPr lang="en-US" b="1" dirty="0"/>
              <a:t>SSL</a:t>
            </a:r>
            <a:br>
              <a:rPr lang="en-US" b="1" dirty="0"/>
            </a:br>
            <a:r>
              <a:rPr lang="en-US" sz="2200" b="1" dirty="0"/>
              <a:t>(Medium Strength Cipher Suites Supported (SWEET32))</a:t>
            </a:r>
            <a:br>
              <a:rPr lang="en-US" b="1" dirty="0"/>
            </a:br>
            <a:endParaRPr lang="en-IN" dirty="0"/>
          </a:p>
        </p:txBody>
      </p:sp>
      <p:sp>
        <p:nvSpPr>
          <p:cNvPr id="3" name="Content Placeholder 2">
            <a:extLst>
              <a:ext uri="{FF2B5EF4-FFF2-40B4-BE49-F238E27FC236}">
                <a16:creationId xmlns:a16="http://schemas.microsoft.com/office/drawing/2014/main" id="{6E0B1E01-CA26-4637-A71A-6DCFEF0ECE88}"/>
              </a:ext>
            </a:extLst>
          </p:cNvPr>
          <p:cNvSpPr>
            <a:spLocks noGrp="1"/>
          </p:cNvSpPr>
          <p:nvPr>
            <p:ph idx="1"/>
          </p:nvPr>
        </p:nvSpPr>
        <p:spPr>
          <a:xfrm>
            <a:off x="1451579" y="2015732"/>
            <a:ext cx="9603275" cy="4037749"/>
          </a:xfrm>
        </p:spPr>
        <p:txBody>
          <a:bodyPr>
            <a:normAutofit/>
          </a:bodyPr>
          <a:lstStyle/>
          <a:p>
            <a:r>
              <a:rPr lang="en-US" b="1" dirty="0"/>
              <a:t>Risk Factor :- </a:t>
            </a:r>
            <a:r>
              <a:rPr lang="en-US" dirty="0"/>
              <a:t>Medium</a:t>
            </a:r>
          </a:p>
          <a:p>
            <a:r>
              <a:rPr lang="en-US" b="1" dirty="0"/>
              <a:t>Description :- </a:t>
            </a:r>
            <a:r>
              <a:rPr lang="en-US" dirty="0"/>
              <a:t>The remote host supports the use of SSL ciphers that offer medium strength encryption. Nessus regards medium strength as any encryption that uses key lengths at least 64 bits and less than 112 bits, or else that uses the 3DES encryption suite.</a:t>
            </a:r>
          </a:p>
          <a:p>
            <a:r>
              <a:rPr lang="en-US" b="1" dirty="0"/>
              <a:t>Impact :- </a:t>
            </a:r>
            <a:r>
              <a:rPr lang="en-US" dirty="0"/>
              <a:t>It is considerably easier to circumvent medium strength encryption if the attacker is on the same physical network.</a:t>
            </a:r>
          </a:p>
          <a:p>
            <a:r>
              <a:rPr lang="en-US" b="1" dirty="0"/>
              <a:t>Solution :- </a:t>
            </a:r>
            <a:r>
              <a:rPr lang="en-US" dirty="0"/>
              <a:t>Reconfigure the affected application if possible to avoid use of medium strength ciphers.</a:t>
            </a:r>
          </a:p>
          <a:p>
            <a:pPr marL="0" indent="0">
              <a:buNone/>
            </a:pPr>
            <a:endParaRPr lang="en-IN" dirty="0"/>
          </a:p>
        </p:txBody>
      </p:sp>
    </p:spTree>
    <p:extLst>
      <p:ext uri="{BB962C8B-B14F-4D97-AF65-F5344CB8AC3E}">
        <p14:creationId xmlns:p14="http://schemas.microsoft.com/office/powerpoint/2010/main" val="1577894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811F9-59E7-4A06-9622-D429DA4A668E}"/>
              </a:ext>
            </a:extLst>
          </p:cNvPr>
          <p:cNvSpPr>
            <a:spLocks noGrp="1"/>
          </p:cNvSpPr>
          <p:nvPr>
            <p:ph type="title"/>
          </p:nvPr>
        </p:nvSpPr>
        <p:spPr/>
        <p:txBody>
          <a:bodyPr>
            <a:normAutofit fontScale="90000"/>
          </a:bodyPr>
          <a:lstStyle/>
          <a:p>
            <a:pPr algn="ctr"/>
            <a:r>
              <a:rPr lang="en-US" b="1" dirty="0"/>
              <a:t>SSL</a:t>
            </a:r>
            <a:br>
              <a:rPr lang="en-US" b="1" dirty="0"/>
            </a:br>
            <a:r>
              <a:rPr lang="en-US" sz="3100" b="1" dirty="0"/>
              <a:t>(RC4 Cipher Suites Supported (Bar Mitzvah))</a:t>
            </a:r>
            <a:br>
              <a:rPr lang="en-US" b="1" dirty="0"/>
            </a:br>
            <a:endParaRPr lang="en-IN" dirty="0"/>
          </a:p>
        </p:txBody>
      </p:sp>
      <p:sp>
        <p:nvSpPr>
          <p:cNvPr id="3" name="Content Placeholder 2">
            <a:extLst>
              <a:ext uri="{FF2B5EF4-FFF2-40B4-BE49-F238E27FC236}">
                <a16:creationId xmlns:a16="http://schemas.microsoft.com/office/drawing/2014/main" id="{1A977054-A7CC-4250-8ADE-360DE376F235}"/>
              </a:ext>
            </a:extLst>
          </p:cNvPr>
          <p:cNvSpPr>
            <a:spLocks noGrp="1"/>
          </p:cNvSpPr>
          <p:nvPr>
            <p:ph idx="1"/>
          </p:nvPr>
        </p:nvSpPr>
        <p:spPr>
          <a:xfrm>
            <a:off x="1451579" y="2015732"/>
            <a:ext cx="9603275" cy="4037749"/>
          </a:xfrm>
        </p:spPr>
        <p:txBody>
          <a:bodyPr>
            <a:normAutofit lnSpcReduction="10000"/>
          </a:bodyPr>
          <a:lstStyle/>
          <a:p>
            <a:r>
              <a:rPr lang="en-US" b="1" dirty="0"/>
              <a:t>Risk Factor :- </a:t>
            </a:r>
            <a:r>
              <a:rPr lang="en-US" dirty="0"/>
              <a:t>Medium</a:t>
            </a:r>
          </a:p>
          <a:p>
            <a:r>
              <a:rPr lang="en-US" b="1" dirty="0"/>
              <a:t>Description :- </a:t>
            </a:r>
            <a:r>
              <a:rPr lang="en-US" dirty="0"/>
              <a:t>The remote host supports the use of RC4 in one or more cipher suites.</a:t>
            </a:r>
            <a:br>
              <a:rPr lang="en-US" dirty="0"/>
            </a:br>
            <a:r>
              <a:rPr lang="en-US" dirty="0"/>
              <a:t>The RC4 cipher is flawed in its generation of a pseudo-random stream of bytes so that a wide variety of small biases are introduced into the stream, decreasing its randomness.</a:t>
            </a:r>
          </a:p>
          <a:p>
            <a:r>
              <a:rPr lang="en-US" b="1" dirty="0"/>
              <a:t>Impact :- </a:t>
            </a:r>
            <a:r>
              <a:rPr lang="en-US" dirty="0"/>
              <a:t>If plaintext is repeatedly encrypted (e.g., HTTP cookies), and an attacker is able to obtain many (i.e., tens of millions) ciphertexts, the attacker may be able to derive the plaintext.</a:t>
            </a:r>
          </a:p>
          <a:p>
            <a:r>
              <a:rPr lang="en-US" b="1" dirty="0"/>
              <a:t>Solution :- </a:t>
            </a:r>
            <a:r>
              <a:rPr lang="en-US" dirty="0"/>
              <a:t>Reconfigure the affected application, if possible, to avoid use of RC4 ciphers. Consider using TLS 1.2 with AES-GCM suites subject to browser and web server support.</a:t>
            </a:r>
          </a:p>
          <a:p>
            <a:pPr marL="0" indent="0">
              <a:buNone/>
            </a:pPr>
            <a:endParaRPr lang="en-IN" dirty="0"/>
          </a:p>
        </p:txBody>
      </p:sp>
    </p:spTree>
    <p:extLst>
      <p:ext uri="{BB962C8B-B14F-4D97-AF65-F5344CB8AC3E}">
        <p14:creationId xmlns:p14="http://schemas.microsoft.com/office/powerpoint/2010/main" val="1408520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D183-A5F0-4C71-B118-9BA3CE5042B8}"/>
              </a:ext>
            </a:extLst>
          </p:cNvPr>
          <p:cNvSpPr>
            <a:spLocks noGrp="1"/>
          </p:cNvSpPr>
          <p:nvPr>
            <p:ph type="title"/>
          </p:nvPr>
        </p:nvSpPr>
        <p:spPr/>
        <p:txBody>
          <a:bodyPr>
            <a:normAutofit fontScale="90000"/>
          </a:bodyPr>
          <a:lstStyle/>
          <a:p>
            <a:pPr algn="ctr"/>
            <a:r>
              <a:rPr lang="en-IN" b="1" dirty="0"/>
              <a:t>SSL</a:t>
            </a:r>
            <a:br>
              <a:rPr lang="en-IN" b="1" dirty="0"/>
            </a:br>
            <a:r>
              <a:rPr lang="en-IN" b="1" dirty="0"/>
              <a:t>(Self-Signed Certificate)</a:t>
            </a:r>
            <a:br>
              <a:rPr lang="en-IN" b="1" dirty="0"/>
            </a:br>
            <a:endParaRPr lang="en-IN" dirty="0"/>
          </a:p>
        </p:txBody>
      </p:sp>
      <p:sp>
        <p:nvSpPr>
          <p:cNvPr id="3" name="Content Placeholder 2">
            <a:extLst>
              <a:ext uri="{FF2B5EF4-FFF2-40B4-BE49-F238E27FC236}">
                <a16:creationId xmlns:a16="http://schemas.microsoft.com/office/drawing/2014/main" id="{54D81F33-B993-48D1-8E83-486E457EE6EC}"/>
              </a:ext>
            </a:extLst>
          </p:cNvPr>
          <p:cNvSpPr>
            <a:spLocks noGrp="1"/>
          </p:cNvSpPr>
          <p:nvPr>
            <p:ph idx="1"/>
          </p:nvPr>
        </p:nvSpPr>
        <p:spPr>
          <a:xfrm>
            <a:off x="1451579" y="2015732"/>
            <a:ext cx="9603275" cy="4037749"/>
          </a:xfrm>
        </p:spPr>
        <p:txBody>
          <a:bodyPr>
            <a:normAutofit/>
          </a:bodyPr>
          <a:lstStyle/>
          <a:p>
            <a:r>
              <a:rPr lang="en-US" b="1" dirty="0"/>
              <a:t>Risk Factor :- </a:t>
            </a:r>
            <a:r>
              <a:rPr lang="en-US" dirty="0"/>
              <a:t>Medium</a:t>
            </a:r>
          </a:p>
          <a:p>
            <a:r>
              <a:rPr lang="en-US" b="1" dirty="0"/>
              <a:t>Description :- </a:t>
            </a:r>
            <a:r>
              <a:rPr lang="en-US" dirty="0"/>
              <a:t>The X.509 certificate chain for this service is not signed by a recognized certificate authority.</a:t>
            </a:r>
          </a:p>
          <a:p>
            <a:r>
              <a:rPr lang="en-US" b="1" dirty="0"/>
              <a:t>Impact :- </a:t>
            </a:r>
            <a:r>
              <a:rPr lang="en-US" dirty="0"/>
              <a:t>If the remote host is a public host in production, this nullifies the use of SSL as anyone could establish a man-in-the-middle attack against the remote host.</a:t>
            </a:r>
            <a:br>
              <a:rPr lang="en-US" dirty="0"/>
            </a:br>
            <a:r>
              <a:rPr lang="en-US" dirty="0"/>
              <a:t>(NOTE : This plugin does not check for certificate chains that end in a certificate that is not self-signed, but is signed by an unrecognized certificate authority.)</a:t>
            </a:r>
          </a:p>
          <a:p>
            <a:r>
              <a:rPr lang="en-US" b="1" dirty="0"/>
              <a:t>Solution :- </a:t>
            </a:r>
            <a:r>
              <a:rPr lang="en-US" dirty="0"/>
              <a:t>Purchase or generate a proper SSL certificate for this service.</a:t>
            </a:r>
          </a:p>
          <a:p>
            <a:pPr marL="0" indent="0">
              <a:buNone/>
            </a:pPr>
            <a:endParaRPr lang="en-IN" b="1" dirty="0"/>
          </a:p>
        </p:txBody>
      </p:sp>
    </p:spTree>
    <p:extLst>
      <p:ext uri="{BB962C8B-B14F-4D97-AF65-F5344CB8AC3E}">
        <p14:creationId xmlns:p14="http://schemas.microsoft.com/office/powerpoint/2010/main" val="32660727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9F134-8867-475A-8326-BACC3F1F55E5}"/>
              </a:ext>
            </a:extLst>
          </p:cNvPr>
          <p:cNvSpPr>
            <a:spLocks noGrp="1"/>
          </p:cNvSpPr>
          <p:nvPr>
            <p:ph type="title"/>
          </p:nvPr>
        </p:nvSpPr>
        <p:spPr/>
        <p:txBody>
          <a:bodyPr>
            <a:normAutofit fontScale="90000"/>
          </a:bodyPr>
          <a:lstStyle/>
          <a:p>
            <a:pPr algn="ctr"/>
            <a:r>
              <a:rPr lang="en-US" b="1" dirty="0"/>
              <a:t>SSL</a:t>
            </a:r>
            <a:br>
              <a:rPr lang="en-US" b="1" dirty="0"/>
            </a:br>
            <a:r>
              <a:rPr lang="en-US" b="1" dirty="0"/>
              <a:t>(Weak Cipher Suites Supported)</a:t>
            </a:r>
            <a:br>
              <a:rPr lang="en-US" b="1" dirty="0"/>
            </a:br>
            <a:endParaRPr lang="en-IN" dirty="0"/>
          </a:p>
        </p:txBody>
      </p:sp>
      <p:sp>
        <p:nvSpPr>
          <p:cNvPr id="3" name="Content Placeholder 2">
            <a:extLst>
              <a:ext uri="{FF2B5EF4-FFF2-40B4-BE49-F238E27FC236}">
                <a16:creationId xmlns:a16="http://schemas.microsoft.com/office/drawing/2014/main" id="{85BD3472-E47D-4295-AF88-BC0CF88D0C05}"/>
              </a:ext>
            </a:extLst>
          </p:cNvPr>
          <p:cNvSpPr>
            <a:spLocks noGrp="1"/>
          </p:cNvSpPr>
          <p:nvPr>
            <p:ph idx="1"/>
          </p:nvPr>
        </p:nvSpPr>
        <p:spPr>
          <a:xfrm>
            <a:off x="1451579" y="2015732"/>
            <a:ext cx="9603275" cy="4037749"/>
          </a:xfrm>
        </p:spPr>
        <p:txBody>
          <a:bodyPr>
            <a:normAutofit/>
          </a:bodyPr>
          <a:lstStyle/>
          <a:p>
            <a:r>
              <a:rPr lang="en-US" b="1" dirty="0"/>
              <a:t>Risk Factor :- </a:t>
            </a:r>
            <a:r>
              <a:rPr lang="en-US" dirty="0"/>
              <a:t>Medium</a:t>
            </a:r>
          </a:p>
          <a:p>
            <a:r>
              <a:rPr lang="en-US" b="1" dirty="0"/>
              <a:t>Description :- </a:t>
            </a:r>
            <a:r>
              <a:rPr lang="en-US" dirty="0"/>
              <a:t>The remote host supports the use of SSL ciphers that offer weak encryption.</a:t>
            </a:r>
          </a:p>
          <a:p>
            <a:r>
              <a:rPr lang="en-US" b="1" dirty="0"/>
              <a:t>Impact :- </a:t>
            </a:r>
            <a:r>
              <a:rPr lang="en-US" dirty="0"/>
              <a:t>This is considerably easier to exploit if the attacker is on the same physical network.</a:t>
            </a:r>
          </a:p>
          <a:p>
            <a:r>
              <a:rPr lang="en-US" b="1" dirty="0"/>
              <a:t>Solution :- </a:t>
            </a:r>
            <a:r>
              <a:rPr lang="en-US" dirty="0"/>
              <a:t>Reconfigure the affected application, if possible to avoid the use of weak ciphers.</a:t>
            </a:r>
          </a:p>
          <a:p>
            <a:pPr marL="0" indent="0">
              <a:buNone/>
            </a:pPr>
            <a:endParaRPr lang="en-IN" dirty="0"/>
          </a:p>
        </p:txBody>
      </p:sp>
    </p:spTree>
    <p:extLst>
      <p:ext uri="{BB962C8B-B14F-4D97-AF65-F5344CB8AC3E}">
        <p14:creationId xmlns:p14="http://schemas.microsoft.com/office/powerpoint/2010/main" val="1209752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901F7-5604-4924-AF4A-6BDC13BC645D}"/>
              </a:ext>
            </a:extLst>
          </p:cNvPr>
          <p:cNvSpPr>
            <a:spLocks noGrp="1"/>
          </p:cNvSpPr>
          <p:nvPr>
            <p:ph type="title"/>
          </p:nvPr>
        </p:nvSpPr>
        <p:spPr/>
        <p:txBody>
          <a:bodyPr/>
          <a:lstStyle/>
          <a:p>
            <a:pPr algn="ctr"/>
            <a:r>
              <a:rPr lang="en-US" b="1" dirty="0"/>
              <a:t>Sslv3</a:t>
            </a:r>
            <a:br>
              <a:rPr lang="en-US" b="1" dirty="0"/>
            </a:br>
            <a:r>
              <a:rPr lang="en-US" b="1" dirty="0"/>
              <a:t>(poodle  vulnerability)</a:t>
            </a:r>
            <a:endParaRPr lang="en-IN" b="1" dirty="0"/>
          </a:p>
        </p:txBody>
      </p:sp>
      <p:sp>
        <p:nvSpPr>
          <p:cNvPr id="3" name="Content Placeholder 2">
            <a:extLst>
              <a:ext uri="{FF2B5EF4-FFF2-40B4-BE49-F238E27FC236}">
                <a16:creationId xmlns:a16="http://schemas.microsoft.com/office/drawing/2014/main" id="{2D7D95AC-95CF-496E-A088-E63E04BFF828}"/>
              </a:ext>
            </a:extLst>
          </p:cNvPr>
          <p:cNvSpPr>
            <a:spLocks noGrp="1"/>
          </p:cNvSpPr>
          <p:nvPr>
            <p:ph idx="1"/>
          </p:nvPr>
        </p:nvSpPr>
        <p:spPr>
          <a:xfrm>
            <a:off x="1451579" y="2015732"/>
            <a:ext cx="9603275" cy="4037749"/>
          </a:xfrm>
        </p:spPr>
        <p:txBody>
          <a:bodyPr>
            <a:normAutofit fontScale="55000" lnSpcReduction="20000"/>
          </a:bodyPr>
          <a:lstStyle/>
          <a:p>
            <a:r>
              <a:rPr lang="en-US" b="1" dirty="0"/>
              <a:t>Risk Factor :- </a:t>
            </a:r>
            <a:r>
              <a:rPr lang="en-US" dirty="0"/>
              <a:t>Medium</a:t>
            </a:r>
          </a:p>
          <a:p>
            <a:r>
              <a:rPr lang="en-US" b="1" dirty="0"/>
              <a:t>Description :- </a:t>
            </a:r>
            <a:r>
              <a:rPr lang="en-US" dirty="0"/>
              <a:t>The remote host is affected by a man-in-the-middle (</a:t>
            </a:r>
            <a:r>
              <a:rPr lang="en-US" dirty="0" err="1"/>
              <a:t>MitM</a:t>
            </a:r>
            <a:r>
              <a:rPr lang="en-US" dirty="0"/>
              <a:t>) information disclosure vulnerability known as POODLE. The vulnerability is due to the way SSL 3.0 handles padding bytes when decrypting messages encrypted using block ciphers in cipher block chaining (CBC) mode.</a:t>
            </a:r>
            <a:br>
              <a:rPr lang="en-US" dirty="0"/>
            </a:br>
            <a:r>
              <a:rPr lang="en-US" dirty="0" err="1"/>
              <a:t>MitM</a:t>
            </a:r>
            <a:r>
              <a:rPr lang="en-US" dirty="0"/>
              <a:t> attackers can decrypt a selected byte of a cipher text in as few as 256 tries if they are able to force a victim application to repeatedly send the same data over newly created SSL 3.0 connections.</a:t>
            </a:r>
            <a:br>
              <a:rPr lang="en-US" dirty="0"/>
            </a:br>
            <a:br>
              <a:rPr lang="en-US" dirty="0"/>
            </a:br>
            <a:r>
              <a:rPr lang="en-US" dirty="0"/>
              <a:t>As long as a client and service both support SSLv3, a connection can be 'rolled back' to SSLv3, even if TLSv1 or newer is supported by the client and service.</a:t>
            </a:r>
            <a:br>
              <a:rPr lang="en-US" dirty="0"/>
            </a:br>
            <a:br>
              <a:rPr lang="en-US" dirty="0"/>
            </a:br>
            <a:r>
              <a:rPr lang="en-US" dirty="0"/>
              <a:t>The TLS Fallback SCSV mechanism prevents 'version rollback' attacks without impacting legacy clients; however, it can only protect connections when the client and service support the mechanism. Sites that cannot disable SSLv3 immediately should enable this mechanism.</a:t>
            </a:r>
            <a:br>
              <a:rPr lang="en-US" dirty="0"/>
            </a:br>
            <a:br>
              <a:rPr lang="en-US" dirty="0"/>
            </a:br>
            <a:r>
              <a:rPr lang="en-US" dirty="0"/>
              <a:t>This is a vulnerability in the SSLv3 specification, not in any particular SSL implementation. Disabling SSLv3 is the only way to completely mitigate the vulnerability.</a:t>
            </a:r>
          </a:p>
          <a:p>
            <a:r>
              <a:rPr lang="en-US" b="1" dirty="0"/>
              <a:t>Impact :- </a:t>
            </a:r>
            <a:r>
              <a:rPr lang="en-US" dirty="0"/>
              <a:t>Padding Oracle On Downgraded Legacy Encryption(POODLE) vulnerability can led to man-in-the-middle attacks.</a:t>
            </a:r>
            <a:endParaRPr lang="en-US" b="1" dirty="0"/>
          </a:p>
          <a:p>
            <a:r>
              <a:rPr lang="en-US" b="1" dirty="0"/>
              <a:t>Solution :- </a:t>
            </a:r>
            <a:r>
              <a:rPr lang="en-US" dirty="0"/>
              <a:t>Disable SSLv3.</a:t>
            </a:r>
            <a:br>
              <a:rPr lang="en-US" dirty="0"/>
            </a:br>
            <a:br>
              <a:rPr lang="en-US" dirty="0"/>
            </a:br>
            <a:r>
              <a:rPr lang="en-US" dirty="0"/>
              <a:t>                   Services that must support SSLv3 should enable the TLS Fallback SCSV mechanism until SSLv3 can be disabled.</a:t>
            </a:r>
          </a:p>
          <a:p>
            <a:pPr marL="0" indent="0">
              <a:buNone/>
            </a:pPr>
            <a:endParaRPr lang="en-IN" dirty="0"/>
          </a:p>
        </p:txBody>
      </p:sp>
    </p:spTree>
    <p:extLst>
      <p:ext uri="{BB962C8B-B14F-4D97-AF65-F5344CB8AC3E}">
        <p14:creationId xmlns:p14="http://schemas.microsoft.com/office/powerpoint/2010/main" val="3251982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DCB97-58D8-4D18-8A96-593A10447F7B}"/>
              </a:ext>
            </a:extLst>
          </p:cNvPr>
          <p:cNvSpPr>
            <a:spLocks noGrp="1"/>
          </p:cNvSpPr>
          <p:nvPr>
            <p:ph type="title"/>
          </p:nvPr>
        </p:nvSpPr>
        <p:spPr/>
        <p:txBody>
          <a:bodyPr>
            <a:normAutofit fontScale="90000"/>
          </a:bodyPr>
          <a:lstStyle/>
          <a:p>
            <a:pPr algn="ctr"/>
            <a:r>
              <a:rPr lang="fr-FR" b="1" dirty="0"/>
              <a:t>TLS</a:t>
            </a:r>
            <a:br>
              <a:rPr lang="fr-FR" b="1" dirty="0"/>
            </a:br>
            <a:r>
              <a:rPr lang="fr-FR" b="1" dirty="0"/>
              <a:t>(Version 1.0 Protocol </a:t>
            </a:r>
            <a:r>
              <a:rPr lang="fr-FR" b="1" dirty="0" err="1"/>
              <a:t>Detection</a:t>
            </a:r>
            <a:r>
              <a:rPr lang="fr-FR" b="1" dirty="0"/>
              <a:t>)</a:t>
            </a:r>
            <a:br>
              <a:rPr lang="fr-FR" b="1" dirty="0"/>
            </a:br>
            <a:endParaRPr lang="en-IN" dirty="0"/>
          </a:p>
        </p:txBody>
      </p:sp>
      <p:sp>
        <p:nvSpPr>
          <p:cNvPr id="3" name="Content Placeholder 2">
            <a:extLst>
              <a:ext uri="{FF2B5EF4-FFF2-40B4-BE49-F238E27FC236}">
                <a16:creationId xmlns:a16="http://schemas.microsoft.com/office/drawing/2014/main" id="{DC571D50-6F91-4CE4-B2D8-C334567EC5BF}"/>
              </a:ext>
            </a:extLst>
          </p:cNvPr>
          <p:cNvSpPr>
            <a:spLocks noGrp="1"/>
          </p:cNvSpPr>
          <p:nvPr>
            <p:ph idx="1"/>
          </p:nvPr>
        </p:nvSpPr>
        <p:spPr>
          <a:xfrm>
            <a:off x="1451579" y="2015732"/>
            <a:ext cx="9603275" cy="4037749"/>
          </a:xfrm>
        </p:spPr>
        <p:txBody>
          <a:bodyPr>
            <a:normAutofit fontScale="77500" lnSpcReduction="20000"/>
          </a:bodyPr>
          <a:lstStyle/>
          <a:p>
            <a:r>
              <a:rPr lang="en-US" b="1" dirty="0"/>
              <a:t>Risk Factor :- </a:t>
            </a:r>
            <a:r>
              <a:rPr lang="en-US" dirty="0"/>
              <a:t>Medium</a:t>
            </a:r>
          </a:p>
          <a:p>
            <a:r>
              <a:rPr lang="en-US" b="1" dirty="0"/>
              <a:t>Description :- </a:t>
            </a:r>
            <a:r>
              <a:rPr lang="en-US" dirty="0"/>
              <a:t>The remote service accepts connections encrypted using TLS 1.0. TLS 1.0 has a number of cryptographic design flaws. Modern implementations of TLS 1.0 mitigate these problems, but newer versions of TLS like 1.2 and 1.3 are designed against these flaws and should be used whenever possible.</a:t>
            </a:r>
            <a:br>
              <a:rPr lang="en-US" dirty="0"/>
            </a:br>
            <a:br>
              <a:rPr lang="en-US" dirty="0"/>
            </a:br>
            <a:r>
              <a:rPr lang="en-US" dirty="0"/>
              <a:t>As of March 31, 2020, Endpoints that aren’t enabled for TLS 1.2 and higher will no longer function properly with major web browsers and major vendors.</a:t>
            </a:r>
            <a:br>
              <a:rPr lang="en-US" dirty="0"/>
            </a:br>
            <a:br>
              <a:rPr lang="en-US" dirty="0"/>
            </a:br>
            <a:r>
              <a:rPr lang="en-US" dirty="0"/>
              <a:t>PCI DSS v3.2 requires that TLS 1.0 be disabled entirely by June 30, 2018, except for POS POI terminals (and the SSL/TLS termination points to which they connect) that can be verified as not being susceptible to any known exploits.</a:t>
            </a:r>
          </a:p>
          <a:p>
            <a:r>
              <a:rPr lang="en-US" b="1" dirty="0"/>
              <a:t>Impact :- </a:t>
            </a:r>
            <a:r>
              <a:rPr lang="en-US" dirty="0"/>
              <a:t>Possibility of external threats &amp; attacks.</a:t>
            </a:r>
            <a:endParaRPr lang="en-US" b="1" dirty="0"/>
          </a:p>
          <a:p>
            <a:r>
              <a:rPr lang="en-US" b="1" dirty="0"/>
              <a:t>Solution :- </a:t>
            </a:r>
            <a:r>
              <a:rPr lang="en-US" dirty="0"/>
              <a:t>Enable support for TLS 1.2 and 1.3, and disable support for TLS 1.0.</a:t>
            </a:r>
          </a:p>
          <a:p>
            <a:pPr marL="0" indent="0">
              <a:buNone/>
            </a:pPr>
            <a:r>
              <a:rPr lang="en-US" b="1" dirty="0"/>
              <a:t> </a:t>
            </a:r>
            <a:endParaRPr lang="en-IN" b="1" dirty="0"/>
          </a:p>
        </p:txBody>
      </p:sp>
    </p:spTree>
    <p:extLst>
      <p:ext uri="{BB962C8B-B14F-4D97-AF65-F5344CB8AC3E}">
        <p14:creationId xmlns:p14="http://schemas.microsoft.com/office/powerpoint/2010/main" val="8634198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63E2-161D-4C33-BA1B-E41BD03FE2B5}"/>
              </a:ext>
            </a:extLst>
          </p:cNvPr>
          <p:cNvSpPr>
            <a:spLocks noGrp="1"/>
          </p:cNvSpPr>
          <p:nvPr>
            <p:ph type="title"/>
          </p:nvPr>
        </p:nvSpPr>
        <p:spPr/>
        <p:txBody>
          <a:bodyPr>
            <a:normAutofit fontScale="90000"/>
          </a:bodyPr>
          <a:lstStyle/>
          <a:p>
            <a:pPr algn="ctr"/>
            <a:r>
              <a:rPr lang="en-US" b="1" dirty="0"/>
              <a:t>SSL/TLS EXPORT_RSA &lt;= 512-bit </a:t>
            </a:r>
            <a:br>
              <a:rPr lang="en-US" b="1" dirty="0"/>
            </a:br>
            <a:r>
              <a:rPr lang="en-US" b="1" dirty="0"/>
              <a:t>(Cipher Suites Supported (FREAK))</a:t>
            </a:r>
            <a:br>
              <a:rPr lang="en-US" b="1" dirty="0"/>
            </a:br>
            <a:endParaRPr lang="en-IN" dirty="0"/>
          </a:p>
        </p:txBody>
      </p:sp>
      <p:sp>
        <p:nvSpPr>
          <p:cNvPr id="3" name="Content Placeholder 2">
            <a:extLst>
              <a:ext uri="{FF2B5EF4-FFF2-40B4-BE49-F238E27FC236}">
                <a16:creationId xmlns:a16="http://schemas.microsoft.com/office/drawing/2014/main" id="{3E268677-D627-42BF-8B01-5227735FC363}"/>
              </a:ext>
            </a:extLst>
          </p:cNvPr>
          <p:cNvSpPr>
            <a:spLocks noGrp="1"/>
          </p:cNvSpPr>
          <p:nvPr>
            <p:ph idx="1"/>
          </p:nvPr>
        </p:nvSpPr>
        <p:spPr>
          <a:xfrm>
            <a:off x="1451579" y="1971771"/>
            <a:ext cx="9603275" cy="4081710"/>
          </a:xfrm>
        </p:spPr>
        <p:txBody>
          <a:bodyPr>
            <a:normAutofit/>
          </a:bodyPr>
          <a:lstStyle/>
          <a:p>
            <a:r>
              <a:rPr lang="en-US" b="1" dirty="0"/>
              <a:t>Risk Factor :- </a:t>
            </a:r>
            <a:r>
              <a:rPr lang="en-US" dirty="0"/>
              <a:t>Medium</a:t>
            </a:r>
          </a:p>
          <a:p>
            <a:r>
              <a:rPr lang="en-US" b="1" dirty="0"/>
              <a:t>Description :- </a:t>
            </a:r>
            <a:r>
              <a:rPr lang="en-US" dirty="0"/>
              <a:t>The remote host supports EXPORT_RSA cipher suites with keys less than or equal to 512 bits. An attacker can factor a 512-bit RSA modulus in a short amount of time.</a:t>
            </a:r>
          </a:p>
          <a:p>
            <a:r>
              <a:rPr lang="en-US" b="1" dirty="0"/>
              <a:t>Impact :- </a:t>
            </a:r>
            <a:r>
              <a:rPr lang="en-US" dirty="0"/>
              <a:t>A man-in-the middle attacker may be able to downgrade the session to use EXPORT_RSA cipher suites (e.g. CVE-2015-0204). Thus, it is recommended to remove support for weak cipher suites.</a:t>
            </a:r>
          </a:p>
          <a:p>
            <a:r>
              <a:rPr lang="en-US" b="1" dirty="0"/>
              <a:t>Solution :- </a:t>
            </a:r>
            <a:r>
              <a:rPr lang="en-US" dirty="0"/>
              <a:t>Reconfigure the service to remove support for EXPORT_RSA cipher suites.</a:t>
            </a:r>
          </a:p>
          <a:p>
            <a:pPr marL="0" indent="0">
              <a:buNone/>
            </a:pPr>
            <a:endParaRPr lang="en-IN" dirty="0"/>
          </a:p>
        </p:txBody>
      </p:sp>
    </p:spTree>
    <p:extLst>
      <p:ext uri="{BB962C8B-B14F-4D97-AF65-F5344CB8AC3E}">
        <p14:creationId xmlns:p14="http://schemas.microsoft.com/office/powerpoint/2010/main" val="609466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8BC54-4622-406C-A941-CCF0A62982AE}"/>
              </a:ext>
            </a:extLst>
          </p:cNvPr>
          <p:cNvSpPr>
            <a:spLocks noGrp="1"/>
          </p:cNvSpPr>
          <p:nvPr>
            <p:ph type="title"/>
          </p:nvPr>
        </p:nvSpPr>
        <p:spPr/>
        <p:txBody>
          <a:bodyPr>
            <a:normAutofit fontScale="90000"/>
          </a:bodyPr>
          <a:lstStyle/>
          <a:p>
            <a:pPr algn="ctr"/>
            <a:r>
              <a:rPr lang="en-IN" b="1" dirty="0"/>
              <a:t>SSH</a:t>
            </a:r>
            <a:br>
              <a:rPr lang="en-IN" b="1" dirty="0"/>
            </a:br>
            <a:r>
              <a:rPr lang="en-IN" b="1" dirty="0"/>
              <a:t>(Weak Algorithms Supported)</a:t>
            </a:r>
            <a:br>
              <a:rPr lang="en-IN" b="1" dirty="0"/>
            </a:br>
            <a:endParaRPr lang="en-IN" dirty="0"/>
          </a:p>
        </p:txBody>
      </p:sp>
      <p:sp>
        <p:nvSpPr>
          <p:cNvPr id="3" name="Content Placeholder 2">
            <a:extLst>
              <a:ext uri="{FF2B5EF4-FFF2-40B4-BE49-F238E27FC236}">
                <a16:creationId xmlns:a16="http://schemas.microsoft.com/office/drawing/2014/main" id="{5D49D71A-7780-4811-8D57-621B90AB2B79}"/>
              </a:ext>
            </a:extLst>
          </p:cNvPr>
          <p:cNvSpPr>
            <a:spLocks noGrp="1"/>
          </p:cNvSpPr>
          <p:nvPr>
            <p:ph idx="1"/>
          </p:nvPr>
        </p:nvSpPr>
        <p:spPr>
          <a:xfrm>
            <a:off x="1451579" y="2015732"/>
            <a:ext cx="9603275" cy="4037749"/>
          </a:xfrm>
        </p:spPr>
        <p:txBody>
          <a:bodyPr/>
          <a:lstStyle/>
          <a:p>
            <a:r>
              <a:rPr lang="en-US" b="1" dirty="0"/>
              <a:t>Risk Factor :- </a:t>
            </a:r>
            <a:r>
              <a:rPr lang="en-US" dirty="0"/>
              <a:t>Medium</a:t>
            </a:r>
          </a:p>
          <a:p>
            <a:r>
              <a:rPr lang="en-US" b="1" dirty="0"/>
              <a:t>Description :- </a:t>
            </a:r>
            <a:r>
              <a:rPr lang="en-US" dirty="0"/>
              <a:t>It has detected that the remote SSH server is configured to use the </a:t>
            </a:r>
            <a:r>
              <a:rPr lang="en-US" dirty="0" err="1"/>
              <a:t>Arcfour</a:t>
            </a:r>
            <a:r>
              <a:rPr lang="en-US" dirty="0"/>
              <a:t> stream cipher or no cipher at all. RFC 4253 advises against using </a:t>
            </a:r>
            <a:r>
              <a:rPr lang="en-US" dirty="0" err="1"/>
              <a:t>Arcfour</a:t>
            </a:r>
            <a:r>
              <a:rPr lang="en-US" dirty="0"/>
              <a:t> due to an issue with weak keys.</a:t>
            </a:r>
          </a:p>
          <a:p>
            <a:r>
              <a:rPr lang="en-US" b="1" dirty="0"/>
              <a:t>Impact :- </a:t>
            </a:r>
            <a:r>
              <a:rPr lang="en-US" dirty="0"/>
              <a:t>Possibility of threats and attacks.</a:t>
            </a:r>
            <a:endParaRPr lang="en-US" b="1" dirty="0"/>
          </a:p>
          <a:p>
            <a:r>
              <a:rPr lang="en-US" b="1" dirty="0"/>
              <a:t>Solution :- </a:t>
            </a:r>
            <a:r>
              <a:rPr lang="en-US" dirty="0"/>
              <a:t>Contact the vendor or consult product documentation to remove the weak ciphers.</a:t>
            </a:r>
          </a:p>
          <a:p>
            <a:pPr marL="0" indent="0">
              <a:buNone/>
            </a:pPr>
            <a:endParaRPr lang="en-IN" dirty="0"/>
          </a:p>
        </p:txBody>
      </p:sp>
    </p:spTree>
    <p:extLst>
      <p:ext uri="{BB962C8B-B14F-4D97-AF65-F5344CB8AC3E}">
        <p14:creationId xmlns:p14="http://schemas.microsoft.com/office/powerpoint/2010/main" val="413202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CFA7A-10C9-4A9C-B3E3-7B4193480331}"/>
              </a:ext>
            </a:extLst>
          </p:cNvPr>
          <p:cNvSpPr>
            <a:spLocks noGrp="1"/>
          </p:cNvSpPr>
          <p:nvPr>
            <p:ph type="title"/>
          </p:nvPr>
        </p:nvSpPr>
        <p:spPr/>
        <p:txBody>
          <a:bodyPr>
            <a:normAutofit fontScale="90000"/>
          </a:bodyPr>
          <a:lstStyle/>
          <a:p>
            <a:pPr algn="ctr"/>
            <a:r>
              <a:rPr lang="en-US" b="1" dirty="0"/>
              <a:t>SSL</a:t>
            </a:r>
            <a:br>
              <a:rPr lang="en-US" b="1" dirty="0"/>
            </a:br>
            <a:r>
              <a:rPr lang="en-US" b="1" dirty="0"/>
              <a:t>(DROWN Attack Vulnerability)</a:t>
            </a:r>
            <a:br>
              <a:rPr lang="en-US" b="1" dirty="0"/>
            </a:br>
            <a:endParaRPr lang="en-IN" dirty="0"/>
          </a:p>
        </p:txBody>
      </p:sp>
      <p:sp>
        <p:nvSpPr>
          <p:cNvPr id="3" name="Content Placeholder 2">
            <a:extLst>
              <a:ext uri="{FF2B5EF4-FFF2-40B4-BE49-F238E27FC236}">
                <a16:creationId xmlns:a16="http://schemas.microsoft.com/office/drawing/2014/main" id="{B814AAD1-D9A5-4C95-8A2D-AF31A69D346E}"/>
              </a:ext>
            </a:extLst>
          </p:cNvPr>
          <p:cNvSpPr>
            <a:spLocks noGrp="1"/>
          </p:cNvSpPr>
          <p:nvPr>
            <p:ph idx="1"/>
          </p:nvPr>
        </p:nvSpPr>
        <p:spPr>
          <a:xfrm>
            <a:off x="1451579" y="2015732"/>
            <a:ext cx="9603275" cy="4037749"/>
          </a:xfrm>
        </p:spPr>
        <p:txBody>
          <a:bodyPr>
            <a:normAutofit fontScale="92500" lnSpcReduction="10000"/>
          </a:bodyPr>
          <a:lstStyle/>
          <a:p>
            <a:r>
              <a:rPr lang="en-US" b="1" dirty="0"/>
              <a:t>Risk Factor :- </a:t>
            </a:r>
            <a:r>
              <a:rPr lang="en-US" dirty="0"/>
              <a:t>Medium</a:t>
            </a:r>
          </a:p>
          <a:p>
            <a:r>
              <a:rPr lang="en-US" b="1" dirty="0"/>
              <a:t>Description :- </a:t>
            </a:r>
            <a:r>
              <a:rPr lang="en-US" dirty="0"/>
              <a:t>The remote host supports SSLv2 and therefore may be affected by a vulnerability that allows a cross-protocol </a:t>
            </a:r>
            <a:r>
              <a:rPr lang="en-US" dirty="0" err="1"/>
              <a:t>Bleichenbacher</a:t>
            </a:r>
            <a:r>
              <a:rPr lang="en-US" dirty="0"/>
              <a:t> padding oracle attack known as DROWN (Decrypting RSA with Obsolete and Weakened </a:t>
            </a:r>
            <a:r>
              <a:rPr lang="en-US" dirty="0" err="1"/>
              <a:t>eNcryption</a:t>
            </a:r>
            <a:r>
              <a:rPr lang="en-US" dirty="0"/>
              <a:t>). This vulnerability exists due to a flaw in the Secure Sockets Layer Version 2 (SSLv2) implementation, and it allows captured TLS traffic to be decrypted. </a:t>
            </a:r>
          </a:p>
          <a:p>
            <a:r>
              <a:rPr lang="en-US" b="1" dirty="0"/>
              <a:t>Impact :- </a:t>
            </a:r>
            <a:r>
              <a:rPr lang="en-US" dirty="0"/>
              <a:t>A man-in-the-middle attacker can exploit this to decrypt the TLS connection by utilizing previously captured traffic and weak cryptography along with a series of specially crafted connections to an SSLv2 server that uses the same private key.</a:t>
            </a:r>
          </a:p>
          <a:p>
            <a:r>
              <a:rPr lang="en-US" b="1" dirty="0"/>
              <a:t>Solution :- </a:t>
            </a:r>
            <a:r>
              <a:rPr lang="en-US" dirty="0"/>
              <a:t>Disable SSLv2 and export grade cryptography cipher suites. Ensure that private keys are not used anywhere with server software that supports SSLv2 connections</a:t>
            </a:r>
          </a:p>
          <a:p>
            <a:endParaRPr lang="en-IN" dirty="0"/>
          </a:p>
        </p:txBody>
      </p:sp>
    </p:spTree>
    <p:extLst>
      <p:ext uri="{BB962C8B-B14F-4D97-AF65-F5344CB8AC3E}">
        <p14:creationId xmlns:p14="http://schemas.microsoft.com/office/powerpoint/2010/main" val="3675168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0239-C8DD-4009-8CB5-C9CF572293C2}"/>
              </a:ext>
            </a:extLst>
          </p:cNvPr>
          <p:cNvSpPr>
            <a:spLocks noGrp="1"/>
          </p:cNvSpPr>
          <p:nvPr>
            <p:ph type="title"/>
          </p:nvPr>
        </p:nvSpPr>
        <p:spPr/>
        <p:txBody>
          <a:bodyPr>
            <a:normAutofit fontScale="90000"/>
          </a:bodyPr>
          <a:lstStyle/>
          <a:p>
            <a:pPr algn="ctr"/>
            <a:r>
              <a:rPr lang="en-US" b="1" dirty="0"/>
              <a:t>SSL</a:t>
            </a:r>
            <a:br>
              <a:rPr lang="en-US" b="1" dirty="0"/>
            </a:br>
            <a:r>
              <a:rPr lang="en-US" b="1" dirty="0"/>
              <a:t>(Anonymous Cipher Suites Supported)</a:t>
            </a:r>
            <a:br>
              <a:rPr lang="en-US" b="1" dirty="0"/>
            </a:br>
            <a:endParaRPr lang="en-IN" dirty="0"/>
          </a:p>
        </p:txBody>
      </p:sp>
      <p:sp>
        <p:nvSpPr>
          <p:cNvPr id="3" name="Content Placeholder 2">
            <a:extLst>
              <a:ext uri="{FF2B5EF4-FFF2-40B4-BE49-F238E27FC236}">
                <a16:creationId xmlns:a16="http://schemas.microsoft.com/office/drawing/2014/main" id="{03968DB5-E602-4614-9BC0-AA75A6D7D7A9}"/>
              </a:ext>
            </a:extLst>
          </p:cNvPr>
          <p:cNvSpPr>
            <a:spLocks noGrp="1"/>
          </p:cNvSpPr>
          <p:nvPr>
            <p:ph idx="1"/>
          </p:nvPr>
        </p:nvSpPr>
        <p:spPr>
          <a:xfrm>
            <a:off x="1451579" y="2015732"/>
            <a:ext cx="9603275" cy="3954245"/>
          </a:xfrm>
        </p:spPr>
        <p:txBody>
          <a:bodyPr>
            <a:normAutofit/>
          </a:bodyPr>
          <a:lstStyle/>
          <a:p>
            <a:r>
              <a:rPr lang="en-US" b="1" dirty="0"/>
              <a:t>Risk Factor :- </a:t>
            </a:r>
            <a:r>
              <a:rPr lang="en-US" dirty="0"/>
              <a:t>Low</a:t>
            </a:r>
          </a:p>
          <a:p>
            <a:r>
              <a:rPr lang="en-US" b="1" dirty="0"/>
              <a:t>Description :- </a:t>
            </a:r>
            <a:r>
              <a:rPr lang="en-US" dirty="0"/>
              <a:t>The remote host supports the use of anonymous SSL ciphers. </a:t>
            </a:r>
          </a:p>
          <a:p>
            <a:r>
              <a:rPr lang="en-US" b="1" dirty="0"/>
              <a:t>Impact :- </a:t>
            </a:r>
            <a:r>
              <a:rPr lang="en-US" dirty="0"/>
              <a:t> While this enables an administrator to set up a service that encrypts traffic without having to generate and configure SSL certificates, it offers no way to verify the remote host's identity and renders the service vulnerable to a man-in-the-middle attack.</a:t>
            </a:r>
            <a:br>
              <a:rPr lang="en-US" dirty="0"/>
            </a:br>
            <a:br>
              <a:rPr lang="en-US" dirty="0"/>
            </a:br>
            <a:r>
              <a:rPr lang="en-US" dirty="0"/>
              <a:t>(Note: This is considerably easier to exploit if the attacker is on the same physical network.)</a:t>
            </a:r>
          </a:p>
          <a:p>
            <a:r>
              <a:rPr lang="en-US" b="1" dirty="0"/>
              <a:t>Solution :- </a:t>
            </a:r>
            <a:r>
              <a:rPr lang="en-US" dirty="0"/>
              <a:t>Reconfigure the affected application if possible to avoid use of weak ciphers.</a:t>
            </a:r>
          </a:p>
          <a:p>
            <a:endParaRPr lang="en-IN" dirty="0"/>
          </a:p>
        </p:txBody>
      </p:sp>
    </p:spTree>
    <p:extLst>
      <p:ext uri="{BB962C8B-B14F-4D97-AF65-F5344CB8AC3E}">
        <p14:creationId xmlns:p14="http://schemas.microsoft.com/office/powerpoint/2010/main" val="11910669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1CE46-921E-4716-80E9-E3713692115F}"/>
              </a:ext>
            </a:extLst>
          </p:cNvPr>
          <p:cNvSpPr>
            <a:spLocks noGrp="1"/>
          </p:cNvSpPr>
          <p:nvPr>
            <p:ph type="title"/>
          </p:nvPr>
        </p:nvSpPr>
        <p:spPr/>
        <p:txBody>
          <a:bodyPr>
            <a:normAutofit fontScale="90000"/>
          </a:bodyPr>
          <a:lstStyle/>
          <a:p>
            <a:pPr algn="ctr"/>
            <a:r>
              <a:rPr lang="en-IN" b="1" dirty="0"/>
              <a:t>SSH</a:t>
            </a:r>
            <a:br>
              <a:rPr lang="en-IN" b="1" dirty="0"/>
            </a:br>
            <a:r>
              <a:rPr lang="en-IN" b="1" dirty="0"/>
              <a:t>(Server CBC Mode Ciphers Enabled)</a:t>
            </a:r>
            <a:br>
              <a:rPr lang="en-IN" b="1" dirty="0"/>
            </a:br>
            <a:endParaRPr lang="en-IN" dirty="0"/>
          </a:p>
        </p:txBody>
      </p:sp>
      <p:sp>
        <p:nvSpPr>
          <p:cNvPr id="3" name="Content Placeholder 2">
            <a:extLst>
              <a:ext uri="{FF2B5EF4-FFF2-40B4-BE49-F238E27FC236}">
                <a16:creationId xmlns:a16="http://schemas.microsoft.com/office/drawing/2014/main" id="{0603339B-07A2-4877-BE0E-A6E28EAF4E3B}"/>
              </a:ext>
            </a:extLst>
          </p:cNvPr>
          <p:cNvSpPr>
            <a:spLocks noGrp="1"/>
          </p:cNvSpPr>
          <p:nvPr>
            <p:ph idx="1"/>
          </p:nvPr>
        </p:nvSpPr>
        <p:spPr>
          <a:xfrm>
            <a:off x="1451579" y="2015732"/>
            <a:ext cx="9603275" cy="3963037"/>
          </a:xfrm>
        </p:spPr>
        <p:txBody>
          <a:bodyPr>
            <a:normAutofit lnSpcReduction="10000"/>
          </a:bodyPr>
          <a:lstStyle/>
          <a:p>
            <a:r>
              <a:rPr lang="en-US" b="1" dirty="0"/>
              <a:t>Risk Factor :- </a:t>
            </a:r>
            <a:r>
              <a:rPr lang="en-US" dirty="0"/>
              <a:t>Low</a:t>
            </a:r>
          </a:p>
          <a:p>
            <a:r>
              <a:rPr lang="en-US" b="1" dirty="0"/>
              <a:t>Description :- </a:t>
            </a:r>
            <a:r>
              <a:rPr lang="en-US" dirty="0"/>
              <a:t>The SSH server is configured to support Cipher Block Chaining (CBC) encryption. </a:t>
            </a:r>
          </a:p>
          <a:p>
            <a:r>
              <a:rPr lang="en-US" b="1" dirty="0"/>
              <a:t>Impact :- </a:t>
            </a:r>
            <a:r>
              <a:rPr lang="en-US" dirty="0"/>
              <a:t>This may allow an attacker to recover the plaintext message from the ciphertext.</a:t>
            </a:r>
            <a:br>
              <a:rPr lang="en-US" dirty="0"/>
            </a:br>
            <a:br>
              <a:rPr lang="en-US" dirty="0"/>
            </a:br>
            <a:r>
              <a:rPr lang="en-US" dirty="0"/>
              <a:t>(NOTE : his plugin only checks for the options of the SSH server and does not check for vulnerable software versions.)</a:t>
            </a:r>
          </a:p>
          <a:p>
            <a:r>
              <a:rPr lang="en-US" b="1" dirty="0"/>
              <a:t>Solution :- </a:t>
            </a:r>
            <a:r>
              <a:rPr lang="en-US" dirty="0"/>
              <a:t>Contact the vendor or consult product documentation to disable CBC mode cipher encryption, and enable CTR or GCM cipher mode encryption.</a:t>
            </a:r>
          </a:p>
          <a:p>
            <a:pPr marL="0" indent="0">
              <a:buNone/>
            </a:pPr>
            <a:endParaRPr lang="en-IN" dirty="0"/>
          </a:p>
        </p:txBody>
      </p:sp>
    </p:spTree>
    <p:extLst>
      <p:ext uri="{BB962C8B-B14F-4D97-AF65-F5344CB8AC3E}">
        <p14:creationId xmlns:p14="http://schemas.microsoft.com/office/powerpoint/2010/main" val="29897968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D869-AC72-4EE8-B097-C5AB254C9593}"/>
              </a:ext>
            </a:extLst>
          </p:cNvPr>
          <p:cNvSpPr>
            <a:spLocks noGrp="1"/>
          </p:cNvSpPr>
          <p:nvPr>
            <p:ph type="title"/>
          </p:nvPr>
        </p:nvSpPr>
        <p:spPr/>
        <p:txBody>
          <a:bodyPr>
            <a:normAutofit fontScale="90000"/>
          </a:bodyPr>
          <a:lstStyle/>
          <a:p>
            <a:pPr algn="ctr"/>
            <a:r>
              <a:rPr lang="en-US" b="1" dirty="0"/>
              <a:t>SSH</a:t>
            </a:r>
            <a:br>
              <a:rPr lang="en-US" b="1" dirty="0"/>
            </a:br>
            <a:r>
              <a:rPr lang="en-US" b="1" dirty="0"/>
              <a:t>(Weak MAC Algorithms Enabled)</a:t>
            </a:r>
            <a:br>
              <a:rPr lang="en-US" b="1" dirty="0"/>
            </a:br>
            <a:endParaRPr lang="en-IN" dirty="0"/>
          </a:p>
        </p:txBody>
      </p:sp>
      <p:sp>
        <p:nvSpPr>
          <p:cNvPr id="3" name="Content Placeholder 2">
            <a:extLst>
              <a:ext uri="{FF2B5EF4-FFF2-40B4-BE49-F238E27FC236}">
                <a16:creationId xmlns:a16="http://schemas.microsoft.com/office/drawing/2014/main" id="{A47BEC71-965B-4078-AE1A-E09DFC9967A1}"/>
              </a:ext>
            </a:extLst>
          </p:cNvPr>
          <p:cNvSpPr>
            <a:spLocks noGrp="1"/>
          </p:cNvSpPr>
          <p:nvPr>
            <p:ph idx="1"/>
          </p:nvPr>
        </p:nvSpPr>
        <p:spPr>
          <a:xfrm>
            <a:off x="1451579" y="2015732"/>
            <a:ext cx="9603275" cy="3927868"/>
          </a:xfrm>
        </p:spPr>
        <p:txBody>
          <a:bodyPr>
            <a:normAutofit/>
          </a:bodyPr>
          <a:lstStyle/>
          <a:p>
            <a:r>
              <a:rPr lang="en-US" b="1" dirty="0"/>
              <a:t>Risk Factor :- </a:t>
            </a:r>
            <a:r>
              <a:rPr lang="en-US" dirty="0"/>
              <a:t>Low</a:t>
            </a:r>
          </a:p>
          <a:p>
            <a:r>
              <a:rPr lang="en-US" b="1" dirty="0"/>
              <a:t>Description :- </a:t>
            </a:r>
            <a:r>
              <a:rPr lang="en-US" dirty="0"/>
              <a:t>The remote SSH server is configured to allow either MD5 or 96-bit MAC algorithms.</a:t>
            </a:r>
          </a:p>
          <a:p>
            <a:r>
              <a:rPr lang="en-US" b="1" dirty="0"/>
              <a:t>Impact :- </a:t>
            </a:r>
            <a:r>
              <a:rPr lang="en-US" dirty="0"/>
              <a:t>Both of these are considered weak.</a:t>
            </a:r>
            <a:br>
              <a:rPr lang="en-US" dirty="0"/>
            </a:br>
            <a:br>
              <a:rPr lang="en-US" dirty="0"/>
            </a:br>
            <a:r>
              <a:rPr lang="en-US" dirty="0"/>
              <a:t>(NOTE : This plugin only checks for the options of the SSH server, and it does not check for vulnerable software versions.)</a:t>
            </a:r>
          </a:p>
          <a:p>
            <a:r>
              <a:rPr lang="en-US" b="1" dirty="0"/>
              <a:t>Solution :- </a:t>
            </a:r>
            <a:r>
              <a:rPr lang="en-US" dirty="0"/>
              <a:t>Contact the vendor or consult product documentation to disable MD5 and 96-bit MAC algorithms.</a:t>
            </a:r>
          </a:p>
          <a:p>
            <a:pPr marL="0" indent="0">
              <a:buNone/>
            </a:pPr>
            <a:endParaRPr lang="en-IN" dirty="0"/>
          </a:p>
        </p:txBody>
      </p:sp>
    </p:spTree>
    <p:extLst>
      <p:ext uri="{BB962C8B-B14F-4D97-AF65-F5344CB8AC3E}">
        <p14:creationId xmlns:p14="http://schemas.microsoft.com/office/powerpoint/2010/main" val="1099157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330D-2AA3-459A-90D2-92BB00300852}"/>
              </a:ext>
            </a:extLst>
          </p:cNvPr>
          <p:cNvSpPr>
            <a:spLocks noGrp="1"/>
          </p:cNvSpPr>
          <p:nvPr>
            <p:ph type="title"/>
          </p:nvPr>
        </p:nvSpPr>
        <p:spPr/>
        <p:txBody>
          <a:bodyPr>
            <a:normAutofit fontScale="90000"/>
          </a:bodyPr>
          <a:lstStyle/>
          <a:p>
            <a:pPr algn="ctr"/>
            <a:r>
              <a:rPr lang="en-IN" b="1" dirty="0"/>
              <a:t>POP3</a:t>
            </a:r>
            <a:br>
              <a:rPr lang="en-IN" b="1" dirty="0"/>
            </a:br>
            <a:r>
              <a:rPr lang="en-IN" b="1" dirty="0"/>
              <a:t>(Cleartext Logins Permitted)</a:t>
            </a:r>
            <a:br>
              <a:rPr lang="en-IN" b="1" dirty="0"/>
            </a:br>
            <a:endParaRPr lang="en-IN" dirty="0"/>
          </a:p>
        </p:txBody>
      </p:sp>
      <p:sp>
        <p:nvSpPr>
          <p:cNvPr id="3" name="Content Placeholder 2">
            <a:extLst>
              <a:ext uri="{FF2B5EF4-FFF2-40B4-BE49-F238E27FC236}">
                <a16:creationId xmlns:a16="http://schemas.microsoft.com/office/drawing/2014/main" id="{DB0B8779-8DBB-42AF-A714-E58EDDB8AD48}"/>
              </a:ext>
            </a:extLst>
          </p:cNvPr>
          <p:cNvSpPr>
            <a:spLocks noGrp="1"/>
          </p:cNvSpPr>
          <p:nvPr>
            <p:ph idx="1"/>
          </p:nvPr>
        </p:nvSpPr>
        <p:spPr>
          <a:xfrm>
            <a:off x="1451579" y="2015732"/>
            <a:ext cx="9603275" cy="4037749"/>
          </a:xfrm>
        </p:spPr>
        <p:txBody>
          <a:bodyPr>
            <a:normAutofit/>
          </a:bodyPr>
          <a:lstStyle/>
          <a:p>
            <a:r>
              <a:rPr lang="en-US" b="1" dirty="0"/>
              <a:t>Risk factor :- </a:t>
            </a:r>
            <a:r>
              <a:rPr lang="en-US" dirty="0"/>
              <a:t>Low</a:t>
            </a:r>
            <a:endParaRPr lang="en-IN" b="1" dirty="0"/>
          </a:p>
          <a:p>
            <a:r>
              <a:rPr lang="en-US" b="1" dirty="0"/>
              <a:t>Description :- </a:t>
            </a:r>
            <a:r>
              <a:rPr lang="en-US" dirty="0"/>
              <a:t>The remote host is running a POP3 daemon that allows cleartext logins over unencrypted connections. </a:t>
            </a:r>
          </a:p>
          <a:p>
            <a:r>
              <a:rPr lang="en-US" b="1" dirty="0"/>
              <a:t>Impact :- </a:t>
            </a:r>
            <a:r>
              <a:rPr lang="en-US" dirty="0"/>
              <a:t>An attacker can uncover user names and passwords by sniffing traffic to the POP3 daemon if a less secure authentication mechanism (</a:t>
            </a:r>
            <a:r>
              <a:rPr lang="en-US" dirty="0" err="1"/>
              <a:t>eg</a:t>
            </a:r>
            <a:r>
              <a:rPr lang="en-US" dirty="0"/>
              <a:t>, USER command, AUTH PLAIN, AUTH LOGIN) is used.</a:t>
            </a:r>
          </a:p>
          <a:p>
            <a:r>
              <a:rPr lang="en-US" b="1" dirty="0"/>
              <a:t>Solution :- </a:t>
            </a:r>
            <a:r>
              <a:rPr lang="en-US" dirty="0"/>
              <a:t>Contact your vendor for a fix or encrypt traffic with SSL / TLS using </a:t>
            </a:r>
            <a:r>
              <a:rPr lang="en-US" dirty="0" err="1"/>
              <a:t>stunnel</a:t>
            </a:r>
            <a:r>
              <a:rPr lang="en-US" dirty="0"/>
              <a:t>.</a:t>
            </a:r>
          </a:p>
          <a:p>
            <a:pPr marL="0" indent="0">
              <a:buNone/>
            </a:pPr>
            <a:endParaRPr lang="en-US" dirty="0"/>
          </a:p>
        </p:txBody>
      </p:sp>
    </p:spTree>
    <p:extLst>
      <p:ext uri="{BB962C8B-B14F-4D97-AF65-F5344CB8AC3E}">
        <p14:creationId xmlns:p14="http://schemas.microsoft.com/office/powerpoint/2010/main" val="2200558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4FDE3-2EC9-4DA5-A927-307EAA5D8B9C}"/>
              </a:ext>
            </a:extLst>
          </p:cNvPr>
          <p:cNvSpPr>
            <a:spLocks noGrp="1"/>
          </p:cNvSpPr>
          <p:nvPr>
            <p:ph type="title"/>
          </p:nvPr>
        </p:nvSpPr>
        <p:spPr/>
        <p:txBody>
          <a:bodyPr/>
          <a:lstStyle/>
          <a:p>
            <a:pPr algn="ctr"/>
            <a:r>
              <a:rPr lang="en-US" dirty="0"/>
              <a:t>Vulnerability Assessment</a:t>
            </a:r>
            <a:br>
              <a:rPr lang="en-US" dirty="0"/>
            </a:br>
            <a:r>
              <a:rPr lang="en-US" dirty="0"/>
              <a:t>(host machine)</a:t>
            </a:r>
            <a:endParaRPr lang="en-IN" dirty="0"/>
          </a:p>
        </p:txBody>
      </p:sp>
      <p:pic>
        <p:nvPicPr>
          <p:cNvPr id="7" name="Content Placeholder 6">
            <a:extLst>
              <a:ext uri="{FF2B5EF4-FFF2-40B4-BE49-F238E27FC236}">
                <a16:creationId xmlns:a16="http://schemas.microsoft.com/office/drawing/2014/main" id="{7C803D3C-5829-4E22-A60F-0D4B252D9798}"/>
              </a:ext>
            </a:extLst>
          </p:cNvPr>
          <p:cNvPicPr>
            <a:picLocks noGrp="1" noChangeAspect="1"/>
          </p:cNvPicPr>
          <p:nvPr>
            <p:ph idx="1"/>
          </p:nvPr>
        </p:nvPicPr>
        <p:blipFill>
          <a:blip r:embed="rId2"/>
          <a:stretch>
            <a:fillRect/>
          </a:stretch>
        </p:blipFill>
        <p:spPr>
          <a:xfrm>
            <a:off x="1451579" y="2016125"/>
            <a:ext cx="9603274" cy="3945060"/>
          </a:xfrm>
        </p:spPr>
      </p:pic>
    </p:spTree>
    <p:extLst>
      <p:ext uri="{BB962C8B-B14F-4D97-AF65-F5344CB8AC3E}">
        <p14:creationId xmlns:p14="http://schemas.microsoft.com/office/powerpoint/2010/main" val="2292292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6A7C4-2410-48D9-B0F4-2CD489B641D1}"/>
              </a:ext>
            </a:extLst>
          </p:cNvPr>
          <p:cNvSpPr>
            <a:spLocks noGrp="1"/>
          </p:cNvSpPr>
          <p:nvPr>
            <p:ph type="title"/>
          </p:nvPr>
        </p:nvSpPr>
        <p:spPr/>
        <p:txBody>
          <a:bodyPr/>
          <a:lstStyle/>
          <a:p>
            <a:pPr algn="ctr"/>
            <a:r>
              <a:rPr lang="en-US" dirty="0"/>
              <a:t>Risk</a:t>
            </a:r>
            <a:br>
              <a:rPr lang="en-US" dirty="0"/>
            </a:br>
            <a:r>
              <a:rPr lang="en-US" dirty="0"/>
              <a:t>(in %)</a:t>
            </a:r>
            <a:endParaRPr lang="en-IN" dirty="0"/>
          </a:p>
        </p:txBody>
      </p:sp>
      <p:sp>
        <p:nvSpPr>
          <p:cNvPr id="3" name="Content Placeholder 2">
            <a:extLst>
              <a:ext uri="{FF2B5EF4-FFF2-40B4-BE49-F238E27FC236}">
                <a16:creationId xmlns:a16="http://schemas.microsoft.com/office/drawing/2014/main" id="{1A3C7BB1-A7E8-4B84-BF5C-A61D43C916A8}"/>
              </a:ext>
            </a:extLst>
          </p:cNvPr>
          <p:cNvSpPr>
            <a:spLocks noGrp="1"/>
          </p:cNvSpPr>
          <p:nvPr>
            <p:ph sz="half" idx="1"/>
          </p:nvPr>
        </p:nvSpPr>
        <p:spPr>
          <a:xfrm>
            <a:off x="1449217" y="2010878"/>
            <a:ext cx="4645152" cy="3448595"/>
          </a:xfrm>
        </p:spPr>
        <p:txBody>
          <a:bodyPr/>
          <a:lstStyle/>
          <a:p>
            <a:pPr marL="457200" indent="-457200">
              <a:buFont typeface="+mj-lt"/>
              <a:buAutoNum type="arabicParenR"/>
            </a:pPr>
            <a:r>
              <a:rPr lang="en-US" dirty="0"/>
              <a:t>Critical = 0</a:t>
            </a:r>
          </a:p>
          <a:p>
            <a:pPr marL="457200" indent="-457200">
              <a:buFont typeface="+mj-lt"/>
              <a:buAutoNum type="arabicParenR"/>
            </a:pPr>
            <a:r>
              <a:rPr lang="en-US" dirty="0"/>
              <a:t>High = 0</a:t>
            </a:r>
          </a:p>
          <a:p>
            <a:pPr marL="457200" indent="-457200">
              <a:buFont typeface="+mj-lt"/>
              <a:buAutoNum type="arabicParenR"/>
            </a:pPr>
            <a:r>
              <a:rPr lang="en-US" dirty="0"/>
              <a:t>Medium = 4.55</a:t>
            </a:r>
          </a:p>
          <a:p>
            <a:pPr marL="457200" indent="-457200">
              <a:buFont typeface="+mj-lt"/>
              <a:buAutoNum type="arabicParenR"/>
            </a:pPr>
            <a:r>
              <a:rPr lang="en-US" dirty="0"/>
              <a:t>Low = 0</a:t>
            </a:r>
          </a:p>
          <a:p>
            <a:pPr marL="457200" indent="-457200">
              <a:buFont typeface="+mj-lt"/>
              <a:buAutoNum type="arabicParenR"/>
            </a:pPr>
            <a:r>
              <a:rPr lang="en-US" dirty="0"/>
              <a:t>Info =95.45</a:t>
            </a:r>
            <a:endParaRPr lang="en-IN" dirty="0"/>
          </a:p>
        </p:txBody>
      </p:sp>
      <p:pic>
        <p:nvPicPr>
          <p:cNvPr id="6" name="Content Placeholder 5">
            <a:extLst>
              <a:ext uri="{FF2B5EF4-FFF2-40B4-BE49-F238E27FC236}">
                <a16:creationId xmlns:a16="http://schemas.microsoft.com/office/drawing/2014/main" id="{41307679-A307-4442-8C09-9C171D7EA375}"/>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413500" y="2010878"/>
            <a:ext cx="4645025" cy="3448595"/>
          </a:xfrm>
        </p:spPr>
      </p:pic>
    </p:spTree>
    <p:extLst>
      <p:ext uri="{BB962C8B-B14F-4D97-AF65-F5344CB8AC3E}">
        <p14:creationId xmlns:p14="http://schemas.microsoft.com/office/powerpoint/2010/main" val="2956515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35B4A-559D-4841-8D6A-4FAB13B18FD1}"/>
              </a:ext>
            </a:extLst>
          </p:cNvPr>
          <p:cNvSpPr>
            <a:spLocks noGrp="1"/>
          </p:cNvSpPr>
          <p:nvPr>
            <p:ph type="title"/>
          </p:nvPr>
        </p:nvSpPr>
        <p:spPr>
          <a:xfrm>
            <a:off x="1451579" y="1252928"/>
            <a:ext cx="9603274" cy="470366"/>
          </a:xfrm>
        </p:spPr>
        <p:txBody>
          <a:bodyPr>
            <a:normAutofit fontScale="90000"/>
          </a:bodyPr>
          <a:lstStyle/>
          <a:p>
            <a:pPr algn="ctr"/>
            <a:r>
              <a:rPr lang="en-US" b="1" dirty="0" err="1"/>
              <a:t>Smb</a:t>
            </a:r>
            <a:r>
              <a:rPr lang="en-US" b="1" dirty="0"/>
              <a:t> signing not required</a:t>
            </a:r>
            <a:endParaRPr lang="en-IN" b="1" dirty="0"/>
          </a:p>
        </p:txBody>
      </p:sp>
      <p:sp>
        <p:nvSpPr>
          <p:cNvPr id="3" name="Content Placeholder 2">
            <a:extLst>
              <a:ext uri="{FF2B5EF4-FFF2-40B4-BE49-F238E27FC236}">
                <a16:creationId xmlns:a16="http://schemas.microsoft.com/office/drawing/2014/main" id="{437EC36A-CB98-4CE5-8066-B66F32C51278}"/>
              </a:ext>
            </a:extLst>
          </p:cNvPr>
          <p:cNvSpPr>
            <a:spLocks noGrp="1"/>
          </p:cNvSpPr>
          <p:nvPr>
            <p:ph idx="1"/>
          </p:nvPr>
        </p:nvSpPr>
        <p:spPr/>
        <p:txBody>
          <a:bodyPr/>
          <a:lstStyle/>
          <a:p>
            <a:pPr>
              <a:buFont typeface="Wingdings" panose="05000000000000000000" pitchFamily="2" charset="2"/>
              <a:buChar char="Ø"/>
            </a:pPr>
            <a:r>
              <a:rPr lang="en-US" b="1" dirty="0"/>
              <a:t>Risk Factor :- </a:t>
            </a:r>
            <a:r>
              <a:rPr lang="en-US" dirty="0"/>
              <a:t>Medium</a:t>
            </a:r>
          </a:p>
          <a:p>
            <a:pPr>
              <a:buFont typeface="Wingdings" panose="05000000000000000000" pitchFamily="2" charset="2"/>
              <a:buChar char="Ø"/>
            </a:pPr>
            <a:r>
              <a:rPr lang="en-US" b="1" dirty="0"/>
              <a:t>Description :- </a:t>
            </a:r>
            <a:r>
              <a:rPr lang="en-US" dirty="0"/>
              <a:t>Signing is not required on the remote SMB server. </a:t>
            </a:r>
          </a:p>
          <a:p>
            <a:pPr>
              <a:buFont typeface="Wingdings" panose="05000000000000000000" pitchFamily="2" charset="2"/>
              <a:buChar char="Ø"/>
            </a:pPr>
            <a:r>
              <a:rPr lang="en-US" b="1" dirty="0"/>
              <a:t>Impact :- </a:t>
            </a:r>
            <a:r>
              <a:rPr lang="en-US" dirty="0"/>
              <a:t>An unauthenticated, remote attacker can exploit this to conduct man-in-the-middle attacks against the SMB server. </a:t>
            </a:r>
          </a:p>
          <a:p>
            <a:pPr>
              <a:buFont typeface="Wingdings" panose="05000000000000000000" pitchFamily="2" charset="2"/>
              <a:buChar char="Ø"/>
            </a:pPr>
            <a:r>
              <a:rPr lang="en-US" b="1" dirty="0"/>
              <a:t>Solution :- </a:t>
            </a:r>
            <a:r>
              <a:rPr lang="en-US" dirty="0"/>
              <a:t>Enforce message signing in the host's configuration. On Windows, this is found in the policy setting 'Microsoft network server: Digitally sign communications (always)'. On Samba, the setting is called 'server signing'.</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27073539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2910-6A48-45BD-8CDA-CA4B42279C33}"/>
              </a:ext>
            </a:extLst>
          </p:cNvPr>
          <p:cNvSpPr>
            <a:spLocks noGrp="1"/>
          </p:cNvSpPr>
          <p:nvPr>
            <p:ph type="ctrTitle"/>
          </p:nvPr>
        </p:nvSpPr>
        <p:spPr/>
        <p:txBody>
          <a:bodyPr/>
          <a:lstStyle/>
          <a:p>
            <a:pPr algn="ctr"/>
            <a:r>
              <a:rPr lang="en-US" dirty="0"/>
              <a:t>Task-2</a:t>
            </a:r>
            <a:endParaRPr lang="en-IN" dirty="0"/>
          </a:p>
        </p:txBody>
      </p:sp>
      <p:sp>
        <p:nvSpPr>
          <p:cNvPr id="3" name="Subtitle 2">
            <a:extLst>
              <a:ext uri="{FF2B5EF4-FFF2-40B4-BE49-F238E27FC236}">
                <a16:creationId xmlns:a16="http://schemas.microsoft.com/office/drawing/2014/main" id="{1698E08C-5E2B-4233-A02B-4C32D3C3A766}"/>
              </a:ext>
            </a:extLst>
          </p:cNvPr>
          <p:cNvSpPr>
            <a:spLocks noGrp="1"/>
          </p:cNvSpPr>
          <p:nvPr>
            <p:ph type="subTitle" idx="1"/>
          </p:nvPr>
        </p:nvSpPr>
        <p:spPr/>
        <p:txBody>
          <a:bodyPr>
            <a:noAutofit/>
          </a:bodyPr>
          <a:lstStyle/>
          <a:p>
            <a:pPr algn="ctr"/>
            <a:r>
              <a:rPr lang="en-US" sz="6000" dirty="0"/>
              <a:t>Password cracking</a:t>
            </a:r>
            <a:endParaRPr lang="en-IN" sz="6000" dirty="0"/>
          </a:p>
        </p:txBody>
      </p:sp>
    </p:spTree>
    <p:extLst>
      <p:ext uri="{BB962C8B-B14F-4D97-AF65-F5344CB8AC3E}">
        <p14:creationId xmlns:p14="http://schemas.microsoft.com/office/powerpoint/2010/main" val="40763626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7AF3-6EEC-4B04-8683-EB925F632BC0}"/>
              </a:ext>
            </a:extLst>
          </p:cNvPr>
          <p:cNvSpPr>
            <a:spLocks noGrp="1"/>
          </p:cNvSpPr>
          <p:nvPr>
            <p:ph type="title"/>
          </p:nvPr>
        </p:nvSpPr>
        <p:spPr>
          <a:xfrm>
            <a:off x="1513125" y="685800"/>
            <a:ext cx="9603275" cy="1055077"/>
          </a:xfrm>
        </p:spPr>
        <p:txBody>
          <a:bodyPr/>
          <a:lstStyle/>
          <a:p>
            <a:pPr algn="ctr"/>
            <a:br>
              <a:rPr lang="en-US" dirty="0"/>
            </a:br>
            <a:r>
              <a:rPr lang="en-US" dirty="0"/>
              <a:t>approach</a:t>
            </a:r>
            <a:endParaRPr lang="en-IN" dirty="0"/>
          </a:p>
        </p:txBody>
      </p:sp>
      <p:sp>
        <p:nvSpPr>
          <p:cNvPr id="3" name="Content Placeholder 2">
            <a:extLst>
              <a:ext uri="{FF2B5EF4-FFF2-40B4-BE49-F238E27FC236}">
                <a16:creationId xmlns:a16="http://schemas.microsoft.com/office/drawing/2014/main" id="{3D5121D1-3CE0-4DD5-A4EF-1121230A4AED}"/>
              </a:ext>
            </a:extLst>
          </p:cNvPr>
          <p:cNvSpPr>
            <a:spLocks noGrp="1"/>
          </p:cNvSpPr>
          <p:nvPr>
            <p:ph idx="1"/>
          </p:nvPr>
        </p:nvSpPr>
        <p:spPr>
          <a:xfrm>
            <a:off x="1451579" y="1899138"/>
            <a:ext cx="9603275" cy="4123593"/>
          </a:xfrm>
        </p:spPr>
        <p:txBody>
          <a:bodyPr>
            <a:normAutofit fontScale="70000" lnSpcReduction="20000"/>
          </a:bodyPr>
          <a:lstStyle/>
          <a:p>
            <a:pPr marL="0" indent="0">
              <a:buNone/>
            </a:pPr>
            <a:r>
              <a:rPr lang="en-US" dirty="0"/>
              <a:t>1.Open the terminal in Kali Linux.</a:t>
            </a:r>
          </a:p>
          <a:p>
            <a:pPr marL="0" indent="0">
              <a:buNone/>
            </a:pPr>
            <a:r>
              <a:rPr lang="en-US" dirty="0"/>
              <a:t>2.Follow the commands as mentioned in the screenshot-1.(refer next slide)</a:t>
            </a:r>
          </a:p>
          <a:p>
            <a:pPr marL="0" indent="0">
              <a:buNone/>
            </a:pPr>
            <a:r>
              <a:rPr lang="en-US" dirty="0"/>
              <a:t>3.You'll obtain the password for pass.txt file.</a:t>
            </a:r>
          </a:p>
          <a:p>
            <a:pPr marL="0" indent="0">
              <a:buNone/>
            </a:pPr>
            <a:r>
              <a:rPr lang="en-US" dirty="0"/>
              <a:t>4.Now,copy all the contents form pass.txt file and paste it in the terminal.(refer next slide)</a:t>
            </a:r>
          </a:p>
          <a:p>
            <a:pPr marL="0" indent="0">
              <a:buNone/>
            </a:pPr>
            <a:r>
              <a:rPr lang="en-US" dirty="0"/>
              <a:t>5.Follow the commands as mentioned in the screenshot-2.</a:t>
            </a:r>
          </a:p>
          <a:p>
            <a:pPr marL="0" indent="0">
              <a:buNone/>
            </a:pPr>
            <a:r>
              <a:rPr lang="en-US" dirty="0"/>
              <a:t>6.Now,you'll obtain 3 cracked hashes of passwords mapped with their usernames. </a:t>
            </a:r>
          </a:p>
          <a:p>
            <a:pPr marL="0" indent="0">
              <a:buNone/>
            </a:pPr>
            <a:r>
              <a:rPr lang="en-US" dirty="0"/>
              <a:t>7.That's all! Your task is completed successfully.</a:t>
            </a:r>
          </a:p>
          <a:p>
            <a:pPr marL="0" indent="0">
              <a:buNone/>
            </a:pPr>
            <a:r>
              <a:rPr lang="en-US" dirty="0"/>
              <a:t>RESULT:-</a:t>
            </a:r>
          </a:p>
          <a:p>
            <a:pPr marL="0" indent="0">
              <a:buNone/>
            </a:pPr>
            <a:r>
              <a:rPr lang="en-US" dirty="0"/>
              <a:t>1.Password of pass.txt = !!!123blahblah!!</a:t>
            </a:r>
          </a:p>
          <a:p>
            <a:pPr marL="0" indent="0">
              <a:buNone/>
            </a:pPr>
            <a:r>
              <a:rPr lang="en-US" dirty="0"/>
              <a:t>2.Password of Usernames(root)=kali</a:t>
            </a:r>
          </a:p>
          <a:p>
            <a:pPr marL="0" indent="0">
              <a:buNone/>
            </a:pPr>
            <a:r>
              <a:rPr lang="en-US" dirty="0"/>
              <a:t>                                       (kali)=kali</a:t>
            </a:r>
          </a:p>
          <a:p>
            <a:pPr marL="0" indent="0">
              <a:buNone/>
            </a:pPr>
            <a:r>
              <a:rPr lang="en-US" dirty="0"/>
              <a:t>                                       (</a:t>
            </a:r>
            <a:r>
              <a:rPr lang="en-US" dirty="0" err="1"/>
              <a:t>varun</a:t>
            </a:r>
            <a:r>
              <a:rPr lang="en-US" dirty="0"/>
              <a:t>)=!@#$%^&amp;</a:t>
            </a:r>
          </a:p>
        </p:txBody>
      </p:sp>
    </p:spTree>
    <p:extLst>
      <p:ext uri="{BB962C8B-B14F-4D97-AF65-F5344CB8AC3E}">
        <p14:creationId xmlns:p14="http://schemas.microsoft.com/office/powerpoint/2010/main" val="28792069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29952-E4A8-46E2-B3B8-C0E42F84E729}"/>
              </a:ext>
            </a:extLst>
          </p:cNvPr>
          <p:cNvSpPr>
            <a:spLocks noGrp="1"/>
          </p:cNvSpPr>
          <p:nvPr>
            <p:ph type="title"/>
          </p:nvPr>
        </p:nvSpPr>
        <p:spPr/>
        <p:txBody>
          <a:bodyPr/>
          <a:lstStyle/>
          <a:p>
            <a:pPr algn="ctr"/>
            <a:r>
              <a:rPr lang="en-US" dirty="0"/>
              <a:t>Screenshots</a:t>
            </a:r>
            <a:br>
              <a:rPr lang="en-US" dirty="0"/>
            </a:br>
            <a:r>
              <a:rPr lang="en-US" dirty="0"/>
              <a:t>(kali </a:t>
            </a:r>
            <a:r>
              <a:rPr lang="en-US" dirty="0" err="1"/>
              <a:t>linux</a:t>
            </a:r>
            <a:r>
              <a:rPr lang="en-US" dirty="0"/>
              <a:t>-terminal)</a:t>
            </a:r>
            <a:endParaRPr lang="en-IN" dirty="0"/>
          </a:p>
        </p:txBody>
      </p:sp>
      <p:sp>
        <p:nvSpPr>
          <p:cNvPr id="3" name="Text Placeholder 2">
            <a:extLst>
              <a:ext uri="{FF2B5EF4-FFF2-40B4-BE49-F238E27FC236}">
                <a16:creationId xmlns:a16="http://schemas.microsoft.com/office/drawing/2014/main" id="{EEE4214D-9CE2-480B-9FF3-F379458753D5}"/>
              </a:ext>
            </a:extLst>
          </p:cNvPr>
          <p:cNvSpPr>
            <a:spLocks noGrp="1"/>
          </p:cNvSpPr>
          <p:nvPr>
            <p:ph type="body" idx="1"/>
          </p:nvPr>
        </p:nvSpPr>
        <p:spPr>
          <a:xfrm>
            <a:off x="1447191" y="1925515"/>
            <a:ext cx="4645152" cy="413239"/>
          </a:xfrm>
        </p:spPr>
        <p:txBody>
          <a:bodyPr>
            <a:normAutofit lnSpcReduction="10000"/>
          </a:bodyPr>
          <a:lstStyle/>
          <a:p>
            <a:r>
              <a:rPr lang="en-US" dirty="0"/>
              <a:t>Screenshot-1</a:t>
            </a:r>
            <a:endParaRPr lang="en-IN" dirty="0"/>
          </a:p>
        </p:txBody>
      </p:sp>
      <p:pic>
        <p:nvPicPr>
          <p:cNvPr id="8" name="Content Placeholder 7">
            <a:extLst>
              <a:ext uri="{FF2B5EF4-FFF2-40B4-BE49-F238E27FC236}">
                <a16:creationId xmlns:a16="http://schemas.microsoft.com/office/drawing/2014/main" id="{A28921D4-23D4-4EFB-A5DF-01F35C984BD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447800" y="2403787"/>
            <a:ext cx="4645025" cy="3049175"/>
          </a:xfrm>
        </p:spPr>
      </p:pic>
      <p:sp>
        <p:nvSpPr>
          <p:cNvPr id="5" name="Text Placeholder 4">
            <a:extLst>
              <a:ext uri="{FF2B5EF4-FFF2-40B4-BE49-F238E27FC236}">
                <a16:creationId xmlns:a16="http://schemas.microsoft.com/office/drawing/2014/main" id="{6B4B42AE-5692-49D4-87A3-585B77626623}"/>
              </a:ext>
            </a:extLst>
          </p:cNvPr>
          <p:cNvSpPr>
            <a:spLocks noGrp="1"/>
          </p:cNvSpPr>
          <p:nvPr>
            <p:ph type="body" sz="quarter" idx="3"/>
          </p:nvPr>
        </p:nvSpPr>
        <p:spPr>
          <a:xfrm>
            <a:off x="6412362" y="1925515"/>
            <a:ext cx="4645152" cy="413239"/>
          </a:xfrm>
        </p:spPr>
        <p:txBody>
          <a:bodyPr>
            <a:normAutofit lnSpcReduction="10000"/>
          </a:bodyPr>
          <a:lstStyle/>
          <a:p>
            <a:r>
              <a:rPr lang="en-US" dirty="0"/>
              <a:t>Screenshot-2</a:t>
            </a:r>
            <a:endParaRPr lang="en-IN" dirty="0"/>
          </a:p>
        </p:txBody>
      </p:sp>
      <p:pic>
        <p:nvPicPr>
          <p:cNvPr id="10" name="Content Placeholder 9">
            <a:extLst>
              <a:ext uri="{FF2B5EF4-FFF2-40B4-BE49-F238E27FC236}">
                <a16:creationId xmlns:a16="http://schemas.microsoft.com/office/drawing/2014/main" id="{BDD32EC4-47A6-4F5A-908E-D6C6D1ED38E8}"/>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411786" y="2403787"/>
            <a:ext cx="4645025" cy="3049175"/>
          </a:xfrm>
        </p:spPr>
      </p:pic>
    </p:spTree>
    <p:extLst>
      <p:ext uri="{BB962C8B-B14F-4D97-AF65-F5344CB8AC3E}">
        <p14:creationId xmlns:p14="http://schemas.microsoft.com/office/powerpoint/2010/main" val="27902422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99C91-9858-4ED9-96D0-4EA357DBB8AE}"/>
              </a:ext>
            </a:extLst>
          </p:cNvPr>
          <p:cNvSpPr>
            <a:spLocks noGrp="1"/>
          </p:cNvSpPr>
          <p:nvPr>
            <p:ph type="ctrTitle"/>
          </p:nvPr>
        </p:nvSpPr>
        <p:spPr/>
        <p:txBody>
          <a:bodyPr/>
          <a:lstStyle/>
          <a:p>
            <a:pPr algn="ctr"/>
            <a:r>
              <a:rPr lang="en-US" dirty="0"/>
              <a:t>Task-3</a:t>
            </a:r>
            <a:endParaRPr lang="en-IN" dirty="0"/>
          </a:p>
        </p:txBody>
      </p:sp>
      <p:sp>
        <p:nvSpPr>
          <p:cNvPr id="3" name="Subtitle 2">
            <a:extLst>
              <a:ext uri="{FF2B5EF4-FFF2-40B4-BE49-F238E27FC236}">
                <a16:creationId xmlns:a16="http://schemas.microsoft.com/office/drawing/2014/main" id="{B41B2B87-D4FB-466F-8273-274F11689C34}"/>
              </a:ext>
            </a:extLst>
          </p:cNvPr>
          <p:cNvSpPr>
            <a:spLocks noGrp="1"/>
          </p:cNvSpPr>
          <p:nvPr>
            <p:ph type="subTitle" idx="1"/>
          </p:nvPr>
        </p:nvSpPr>
        <p:spPr/>
        <p:txBody>
          <a:bodyPr>
            <a:noAutofit/>
          </a:bodyPr>
          <a:lstStyle/>
          <a:p>
            <a:pPr algn="ctr"/>
            <a:r>
              <a:rPr lang="en-US" sz="6600" dirty="0"/>
              <a:t>steganography</a:t>
            </a:r>
            <a:endParaRPr lang="en-IN" sz="6600" dirty="0"/>
          </a:p>
        </p:txBody>
      </p:sp>
    </p:spTree>
    <p:extLst>
      <p:ext uri="{BB962C8B-B14F-4D97-AF65-F5344CB8AC3E}">
        <p14:creationId xmlns:p14="http://schemas.microsoft.com/office/powerpoint/2010/main" val="27360961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6337C-A3C6-4F6E-A230-0973DADBA5E9}"/>
              </a:ext>
            </a:extLst>
          </p:cNvPr>
          <p:cNvSpPr>
            <a:spLocks noGrp="1"/>
          </p:cNvSpPr>
          <p:nvPr>
            <p:ph type="title"/>
          </p:nvPr>
        </p:nvSpPr>
        <p:spPr/>
        <p:txBody>
          <a:bodyPr>
            <a:normAutofit fontScale="90000"/>
          </a:bodyPr>
          <a:lstStyle/>
          <a:p>
            <a:pPr algn="ctr"/>
            <a:br>
              <a:rPr lang="en-US" dirty="0"/>
            </a:br>
            <a:r>
              <a:rPr lang="en-US" dirty="0"/>
              <a:t>Approach</a:t>
            </a:r>
            <a:br>
              <a:rPr lang="en-US" dirty="0"/>
            </a:br>
            <a:endParaRPr lang="en-IN" dirty="0"/>
          </a:p>
        </p:txBody>
      </p:sp>
      <p:sp>
        <p:nvSpPr>
          <p:cNvPr id="3" name="Content Placeholder 2">
            <a:extLst>
              <a:ext uri="{FF2B5EF4-FFF2-40B4-BE49-F238E27FC236}">
                <a16:creationId xmlns:a16="http://schemas.microsoft.com/office/drawing/2014/main" id="{EFF9A576-7352-41C6-B97E-EA6564B2CF3E}"/>
              </a:ext>
            </a:extLst>
          </p:cNvPr>
          <p:cNvSpPr>
            <a:spLocks noGrp="1"/>
          </p:cNvSpPr>
          <p:nvPr>
            <p:ph idx="1"/>
          </p:nvPr>
        </p:nvSpPr>
        <p:spPr/>
        <p:txBody>
          <a:bodyPr>
            <a:normAutofit fontScale="70000" lnSpcReduction="20000"/>
          </a:bodyPr>
          <a:lstStyle/>
          <a:p>
            <a:pPr marL="0" indent="0">
              <a:buNone/>
            </a:pPr>
            <a:r>
              <a:rPr lang="en-US" dirty="0"/>
              <a:t>Steps to approach:-</a:t>
            </a:r>
          </a:p>
          <a:p>
            <a:pPr marL="0" indent="0">
              <a:buNone/>
            </a:pPr>
            <a:r>
              <a:rPr lang="en-US" dirty="0"/>
              <a:t>1.Consider an image on the desktop.</a:t>
            </a:r>
          </a:p>
          <a:p>
            <a:pPr marL="0" indent="0">
              <a:buNone/>
            </a:pPr>
            <a:r>
              <a:rPr lang="en-US" dirty="0"/>
              <a:t>2.Consider a video on the desktop.</a:t>
            </a:r>
          </a:p>
          <a:p>
            <a:pPr marL="0" indent="0">
              <a:buNone/>
            </a:pPr>
            <a:r>
              <a:rPr lang="en-US" dirty="0"/>
              <a:t>3.Now,open "COMMAND PROMPT".</a:t>
            </a:r>
          </a:p>
          <a:p>
            <a:pPr marL="0" indent="0">
              <a:buNone/>
            </a:pPr>
            <a:r>
              <a:rPr lang="en-US" dirty="0"/>
              <a:t>4.Enter the command :cd desktop</a:t>
            </a:r>
          </a:p>
          <a:p>
            <a:pPr marL="0" indent="0">
              <a:buNone/>
            </a:pPr>
            <a:r>
              <a:rPr lang="en-US" dirty="0"/>
              <a:t>5.Now you're able to access the files/folders on the </a:t>
            </a:r>
            <a:r>
              <a:rPr lang="en-US" dirty="0" err="1"/>
              <a:t>destop</a:t>
            </a:r>
            <a:r>
              <a:rPr lang="en-US" dirty="0"/>
              <a:t>.</a:t>
            </a:r>
          </a:p>
          <a:p>
            <a:pPr marL="0" indent="0">
              <a:buNone/>
            </a:pPr>
            <a:r>
              <a:rPr lang="en-US" dirty="0"/>
              <a:t>6.Enter the command : copy /b </a:t>
            </a:r>
            <a:r>
              <a:rPr lang="en-US" dirty="0" err="1"/>
              <a:t>image.ext</a:t>
            </a:r>
            <a:r>
              <a:rPr lang="en-US" dirty="0"/>
              <a:t> + </a:t>
            </a:r>
            <a:r>
              <a:rPr lang="en-US" dirty="0" err="1"/>
              <a:t>file.ext</a:t>
            </a:r>
            <a:r>
              <a:rPr lang="en-US" dirty="0"/>
              <a:t> </a:t>
            </a:r>
            <a:r>
              <a:rPr lang="en-US" dirty="0" err="1"/>
              <a:t>New_File.ext</a:t>
            </a:r>
            <a:endParaRPr lang="en-US" dirty="0"/>
          </a:p>
          <a:p>
            <a:pPr marL="0" indent="0">
              <a:buNone/>
            </a:pPr>
            <a:r>
              <a:rPr lang="en-US" dirty="0"/>
              <a:t>  (Here,".</a:t>
            </a:r>
            <a:r>
              <a:rPr lang="en-US" dirty="0" err="1"/>
              <a:t>ext</a:t>
            </a:r>
            <a:r>
              <a:rPr lang="en-US" dirty="0"/>
              <a:t>" refers to the extension of the file type)</a:t>
            </a:r>
          </a:p>
          <a:p>
            <a:pPr marL="0" indent="0">
              <a:buNone/>
            </a:pPr>
            <a:r>
              <a:rPr lang="en-US" dirty="0"/>
              <a:t>7.That's all! Your task is completed successfully.</a:t>
            </a:r>
          </a:p>
          <a:p>
            <a:pPr marL="0" indent="0">
              <a:buNone/>
            </a:pPr>
            <a:r>
              <a:rPr lang="en-US" dirty="0"/>
              <a:t>(NOTE : Please refer next slide for clarification)</a:t>
            </a:r>
          </a:p>
          <a:p>
            <a:pPr marL="0" indent="0">
              <a:buNone/>
            </a:pPr>
            <a:endParaRPr lang="en-IN" dirty="0"/>
          </a:p>
        </p:txBody>
      </p:sp>
    </p:spTree>
    <p:extLst>
      <p:ext uri="{BB962C8B-B14F-4D97-AF65-F5344CB8AC3E}">
        <p14:creationId xmlns:p14="http://schemas.microsoft.com/office/powerpoint/2010/main" val="21237497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16EB8-EE75-46F4-9D9A-88E10FEFB3DC}"/>
              </a:ext>
            </a:extLst>
          </p:cNvPr>
          <p:cNvSpPr>
            <a:spLocks noGrp="1"/>
          </p:cNvSpPr>
          <p:nvPr>
            <p:ph type="title"/>
          </p:nvPr>
        </p:nvSpPr>
        <p:spPr/>
        <p:txBody>
          <a:bodyPr/>
          <a:lstStyle/>
          <a:p>
            <a:pPr algn="ctr"/>
            <a:r>
              <a:rPr lang="en-US" dirty="0"/>
              <a:t>Screenshots</a:t>
            </a:r>
            <a:br>
              <a:rPr lang="en-US" dirty="0"/>
            </a:br>
            <a:r>
              <a:rPr lang="en-US" dirty="0"/>
              <a:t>(execution of steganography)</a:t>
            </a:r>
            <a:endParaRPr lang="en-IN" dirty="0"/>
          </a:p>
        </p:txBody>
      </p:sp>
      <p:sp>
        <p:nvSpPr>
          <p:cNvPr id="3" name="Text Placeholder 2">
            <a:extLst>
              <a:ext uri="{FF2B5EF4-FFF2-40B4-BE49-F238E27FC236}">
                <a16:creationId xmlns:a16="http://schemas.microsoft.com/office/drawing/2014/main" id="{7FB2382F-D7E8-480B-92EF-D5E1A04653BA}"/>
              </a:ext>
            </a:extLst>
          </p:cNvPr>
          <p:cNvSpPr>
            <a:spLocks noGrp="1"/>
          </p:cNvSpPr>
          <p:nvPr>
            <p:ph type="body" idx="1"/>
          </p:nvPr>
        </p:nvSpPr>
        <p:spPr>
          <a:xfrm rot="10800000" flipV="1">
            <a:off x="1473567" y="1934309"/>
            <a:ext cx="4645152" cy="429064"/>
          </a:xfrm>
        </p:spPr>
        <p:txBody>
          <a:bodyPr>
            <a:normAutofit/>
          </a:bodyPr>
          <a:lstStyle/>
          <a:p>
            <a:r>
              <a:rPr lang="en-US" dirty="0"/>
              <a:t>before</a:t>
            </a:r>
            <a:endParaRPr lang="en-IN" dirty="0"/>
          </a:p>
        </p:txBody>
      </p:sp>
      <p:pic>
        <p:nvPicPr>
          <p:cNvPr id="8" name="Content Placeholder 7">
            <a:extLst>
              <a:ext uri="{FF2B5EF4-FFF2-40B4-BE49-F238E27FC236}">
                <a16:creationId xmlns:a16="http://schemas.microsoft.com/office/drawing/2014/main" id="{0932D88E-5F26-4196-A66A-E5573F7FA056}"/>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447927" y="2363374"/>
            <a:ext cx="4645025" cy="3089589"/>
          </a:xfrm>
        </p:spPr>
      </p:pic>
      <p:sp>
        <p:nvSpPr>
          <p:cNvPr id="5" name="Text Placeholder 4">
            <a:extLst>
              <a:ext uri="{FF2B5EF4-FFF2-40B4-BE49-F238E27FC236}">
                <a16:creationId xmlns:a16="http://schemas.microsoft.com/office/drawing/2014/main" id="{A3C5E964-FA07-4FD5-89AF-C6BF2F54DB56}"/>
              </a:ext>
            </a:extLst>
          </p:cNvPr>
          <p:cNvSpPr>
            <a:spLocks noGrp="1"/>
          </p:cNvSpPr>
          <p:nvPr>
            <p:ph type="body" sz="quarter" idx="3"/>
          </p:nvPr>
        </p:nvSpPr>
        <p:spPr>
          <a:xfrm>
            <a:off x="6412362" y="1934309"/>
            <a:ext cx="4645152" cy="429065"/>
          </a:xfrm>
        </p:spPr>
        <p:txBody>
          <a:bodyPr>
            <a:normAutofit/>
          </a:bodyPr>
          <a:lstStyle/>
          <a:p>
            <a:r>
              <a:rPr lang="en-US" dirty="0"/>
              <a:t>after</a:t>
            </a:r>
            <a:endParaRPr lang="en-IN" dirty="0"/>
          </a:p>
        </p:txBody>
      </p:sp>
      <p:pic>
        <p:nvPicPr>
          <p:cNvPr id="10" name="Content Placeholder 9">
            <a:extLst>
              <a:ext uri="{FF2B5EF4-FFF2-40B4-BE49-F238E27FC236}">
                <a16:creationId xmlns:a16="http://schemas.microsoft.com/office/drawing/2014/main" id="{3DFE5442-AE38-488C-82A3-527F2956DCAB}"/>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411913" y="2363374"/>
            <a:ext cx="4645025" cy="3083239"/>
          </a:xfrm>
        </p:spPr>
      </p:pic>
    </p:spTree>
    <p:extLst>
      <p:ext uri="{BB962C8B-B14F-4D97-AF65-F5344CB8AC3E}">
        <p14:creationId xmlns:p14="http://schemas.microsoft.com/office/powerpoint/2010/main" val="42037389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B3DC7-5309-4B48-9189-D1B127B2EDAA}"/>
              </a:ext>
            </a:extLst>
          </p:cNvPr>
          <p:cNvSpPr>
            <a:spLocks noGrp="1"/>
          </p:cNvSpPr>
          <p:nvPr>
            <p:ph type="ctrTitle"/>
          </p:nvPr>
        </p:nvSpPr>
        <p:spPr/>
        <p:txBody>
          <a:bodyPr/>
          <a:lstStyle/>
          <a:p>
            <a:pPr algn="ctr"/>
            <a:r>
              <a:rPr lang="en-US" dirty="0"/>
              <a:t>Thank you!</a:t>
            </a:r>
            <a:endParaRPr lang="en-IN" dirty="0"/>
          </a:p>
        </p:txBody>
      </p:sp>
      <p:sp>
        <p:nvSpPr>
          <p:cNvPr id="3" name="Subtitle 2">
            <a:extLst>
              <a:ext uri="{FF2B5EF4-FFF2-40B4-BE49-F238E27FC236}">
                <a16:creationId xmlns:a16="http://schemas.microsoft.com/office/drawing/2014/main" id="{2AD797A8-D2CE-4097-9F28-60F3356DFF91}"/>
              </a:ext>
            </a:extLst>
          </p:cNvPr>
          <p:cNvSpPr>
            <a:spLocks noGrp="1"/>
          </p:cNvSpPr>
          <p:nvPr>
            <p:ph type="subTitle" idx="1"/>
          </p:nvPr>
        </p:nvSpPr>
        <p:spPr/>
        <p:txBody>
          <a:bodyPr>
            <a:noAutofit/>
          </a:bodyPr>
          <a:lstStyle/>
          <a:p>
            <a:pPr algn="r"/>
            <a:r>
              <a:rPr lang="en-US" sz="2400" dirty="0" err="1"/>
              <a:t>Ptd</a:t>
            </a:r>
            <a:r>
              <a:rPr lang="en-US" sz="2400" dirty="0"/>
              <a:t>. By;</a:t>
            </a:r>
          </a:p>
          <a:p>
            <a:pPr algn="r"/>
            <a:r>
              <a:rPr lang="en-US" sz="2400" dirty="0"/>
              <a:t>-</a:t>
            </a:r>
            <a:r>
              <a:rPr lang="en-US" sz="2400" dirty="0" err="1"/>
              <a:t>gudena</a:t>
            </a:r>
            <a:r>
              <a:rPr lang="en-US" sz="2400" dirty="0"/>
              <a:t>  </a:t>
            </a:r>
            <a:r>
              <a:rPr lang="en-US" sz="2400" dirty="0" err="1"/>
              <a:t>ashish</a:t>
            </a:r>
            <a:endParaRPr lang="en-IN" sz="2400" dirty="0"/>
          </a:p>
        </p:txBody>
      </p:sp>
    </p:spTree>
    <p:extLst>
      <p:ext uri="{BB962C8B-B14F-4D97-AF65-F5344CB8AC3E}">
        <p14:creationId xmlns:p14="http://schemas.microsoft.com/office/powerpoint/2010/main" val="344145126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578</TotalTime>
  <Words>5326</Words>
  <Application>Microsoft Office PowerPoint</Application>
  <PresentationFormat>Widescreen</PresentationFormat>
  <Paragraphs>248</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Courier New</vt:lpstr>
      <vt:lpstr>Gill Sans MT</vt:lpstr>
      <vt:lpstr>Wingdings</vt:lpstr>
      <vt:lpstr>Gallery</vt:lpstr>
      <vt:lpstr>PROJECT WORK ON Cyber Security &amp; Ethical Hacking</vt:lpstr>
      <vt:lpstr>PROJECT DETAILS</vt:lpstr>
      <vt:lpstr>TASKS</vt:lpstr>
      <vt:lpstr>            TASK-1</vt:lpstr>
      <vt:lpstr>SECURITY TESTING (OVERVIEW)</vt:lpstr>
      <vt:lpstr>  approach </vt:lpstr>
      <vt:lpstr>RISK (DEFINITION)</vt:lpstr>
      <vt:lpstr>Vulnerability Assessment (website)</vt:lpstr>
      <vt:lpstr>Risk (in %)</vt:lpstr>
      <vt:lpstr>Unix Operating System (Unsupported Version Detection) </vt:lpstr>
      <vt:lpstr>PHP (Unsupported Version Detection) </vt:lpstr>
      <vt:lpstr>PHP 5.3.x &lt; 5.3.15 (Multiple Vulnerabilities) </vt:lpstr>
      <vt:lpstr>PHP &lt; 5.3.12 / 5.4.2 (CGI Query String Code Execution) </vt:lpstr>
      <vt:lpstr>PHP 5.3.x &lt; 5.3.13 (CGI Query String Code Execution) </vt:lpstr>
      <vt:lpstr>PHP 5.3.x &lt; 5.3.14 (Multiple Vulnerabilities) </vt:lpstr>
      <vt:lpstr>PHP 5.3.x &lt; 5.3.22 (Multiple Vulnerabilities) </vt:lpstr>
      <vt:lpstr>PHP 5.3.x &lt; 5.3.23 (Multiple Vulnerabilities) </vt:lpstr>
      <vt:lpstr>PHP 5.3.x &lt; 5.3.28 (Multiple OpenSSL Vulnerabilities) </vt:lpstr>
      <vt:lpstr>PHP 5.3.x &lt; 5.3.29 (Multiple Vulnerabilities) </vt:lpstr>
      <vt:lpstr>SSL (Version 2 and 3 Protocol Detection) </vt:lpstr>
      <vt:lpstr>PHP &lt; 5.3.11 (Multiple Vulnerabilities) </vt:lpstr>
      <vt:lpstr>PHP 5.3.x &lt; 5.3.26 (Multiple Vulnerabilities) </vt:lpstr>
      <vt:lpstr>PHP 5.3.x &lt; 5.3.27 (Multiple Vulnerabilities) </vt:lpstr>
      <vt:lpstr>PHP PHP_RSHUTDOWN_FUNCTION (Security Bypass) </vt:lpstr>
      <vt:lpstr>SSL (Certificate Cannot Be Trusted) </vt:lpstr>
      <vt:lpstr>SSL (Certificate Expiry) </vt:lpstr>
      <vt:lpstr>SSL (Certificate with Wrong Hostname) </vt:lpstr>
      <vt:lpstr>SSL (Medium Strength Cipher Suites Supported (SWEET32)) </vt:lpstr>
      <vt:lpstr>SSL (RC4 Cipher Suites Supported (Bar Mitzvah)) </vt:lpstr>
      <vt:lpstr>SSL (Self-Signed Certificate) </vt:lpstr>
      <vt:lpstr>SSL (Weak Cipher Suites Supported) </vt:lpstr>
      <vt:lpstr>Sslv3 (poodle  vulnerability)</vt:lpstr>
      <vt:lpstr>TLS (Version 1.0 Protocol Detection) </vt:lpstr>
      <vt:lpstr>SSL/TLS EXPORT_RSA &lt;= 512-bit  (Cipher Suites Supported (FREAK)) </vt:lpstr>
      <vt:lpstr>SSH (Weak Algorithms Supported) </vt:lpstr>
      <vt:lpstr>SSL (DROWN Attack Vulnerability) </vt:lpstr>
      <vt:lpstr>SSL (Anonymous Cipher Suites Supported) </vt:lpstr>
      <vt:lpstr>SSH (Server CBC Mode Ciphers Enabled) </vt:lpstr>
      <vt:lpstr>SSH (Weak MAC Algorithms Enabled) </vt:lpstr>
      <vt:lpstr>POP3 (Cleartext Logins Permitted) </vt:lpstr>
      <vt:lpstr>Vulnerability Assessment (host machine)</vt:lpstr>
      <vt:lpstr>Risk (in %)</vt:lpstr>
      <vt:lpstr>Smb signing not required</vt:lpstr>
      <vt:lpstr>Task-2</vt:lpstr>
      <vt:lpstr> approach</vt:lpstr>
      <vt:lpstr>Screenshots (kali linux-terminal)</vt:lpstr>
      <vt:lpstr>Task-3</vt:lpstr>
      <vt:lpstr> Approach </vt:lpstr>
      <vt:lpstr>Screenshots (execution of steganography)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WORK ON Cyber Security &amp; Ethical Hacking</dc:title>
  <dc:creator>GUDENA ASHISH</dc:creator>
  <cp:lastModifiedBy>GUDENA ASHISH</cp:lastModifiedBy>
  <cp:revision>32</cp:revision>
  <dcterms:created xsi:type="dcterms:W3CDTF">2020-11-10T11:48:47Z</dcterms:created>
  <dcterms:modified xsi:type="dcterms:W3CDTF">2022-01-19T14:07:01Z</dcterms:modified>
</cp:coreProperties>
</file>